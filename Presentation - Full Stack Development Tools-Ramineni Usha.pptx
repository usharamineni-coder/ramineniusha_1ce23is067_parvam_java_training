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Gatwick Ultra-Bold" charset="1" panose="00000900000000000000"/>
      <p:regular r:id="rId21"/>
    </p:embeddedFont>
    <p:embeddedFont>
      <p:font typeface="Codec Pro Ultra-Bold" charset="1" panose="00000700000000000000"/>
      <p:regular r:id="rId22"/>
    </p:embeddedFont>
    <p:embeddedFont>
      <p:font typeface="Codec Pro" charset="1" panose="00000500000000000000"/>
      <p:regular r:id="rId23"/>
    </p:embeddedFont>
    <p:embeddedFont>
      <p:font typeface="Codec Pro Bold" charset="1" panose="00000600000000000000"/>
      <p:regular r:id="rId24"/>
    </p:embeddedFont>
    <p:embeddedFont>
      <p:font typeface="Gatwick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9FAFB"/>
            </a:solidFill>
          </p:spPr>
        </p:sp>
      </p:grpSp>
      <p:grpSp>
        <p:nvGrpSpPr>
          <p:cNvPr name="Group 5" id="5"/>
          <p:cNvGrpSpPr/>
          <p:nvPr/>
        </p:nvGrpSpPr>
        <p:grpSpPr>
          <a:xfrm rot="0">
            <a:off x="10095507" y="1171470"/>
            <a:ext cx="6898579" cy="7848810"/>
            <a:chOff x="0" y="0"/>
            <a:chExt cx="1078972" cy="1227593"/>
          </a:xfrm>
        </p:grpSpPr>
        <p:sp>
          <p:nvSpPr>
            <p:cNvPr name="Freeform 6" id="6"/>
            <p:cNvSpPr/>
            <p:nvPr/>
          </p:nvSpPr>
          <p:spPr>
            <a:xfrm flipH="false" flipV="false" rot="0">
              <a:off x="0" y="0"/>
              <a:ext cx="1078972" cy="1227593"/>
            </a:xfrm>
            <a:custGeom>
              <a:avLst/>
              <a:gdLst/>
              <a:ahLst/>
              <a:cxnLst/>
              <a:rect r="r" b="b" t="t" l="l"/>
              <a:pathLst>
                <a:path h="1227593" w="1078972">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2"/>
              <a:stretch>
                <a:fillRect l="0" t="-296" r="0" b="-296"/>
              </a:stretch>
            </a:blipFill>
            <a:ln w="38100" cap="rnd">
              <a:solidFill>
                <a:srgbClr val="000000"/>
              </a:solidFill>
              <a:prstDash val="solid"/>
              <a:round/>
            </a:ln>
          </p:spPr>
        </p:sp>
      </p:grpSp>
      <p:sp>
        <p:nvSpPr>
          <p:cNvPr name="TextBox 7" id="7"/>
          <p:cNvSpPr txBox="true"/>
          <p:nvPr/>
        </p:nvSpPr>
        <p:spPr>
          <a:xfrm rot="0">
            <a:off x="1800225" y="3267095"/>
            <a:ext cx="7496175" cy="3400425"/>
          </a:xfrm>
          <a:prstGeom prst="rect">
            <a:avLst/>
          </a:prstGeom>
        </p:spPr>
        <p:txBody>
          <a:bodyPr anchor="t" rtlCol="false" tIns="0" lIns="0" bIns="0" rIns="0">
            <a:spAutoFit/>
          </a:bodyPr>
          <a:lstStyle/>
          <a:p>
            <a:pPr algn="ctr" marL="0" indent="0" lvl="0">
              <a:lnSpc>
                <a:spcPts val="8730"/>
              </a:lnSpc>
            </a:pPr>
            <a:r>
              <a:rPr lang="en-US" b="true" sz="7275" spc="-181">
                <a:solidFill>
                  <a:srgbClr val="F9FAFB"/>
                </a:solidFill>
                <a:latin typeface="Gatwick Ultra-Bold"/>
                <a:ea typeface="Gatwick Ultra-Bold"/>
                <a:cs typeface="Gatwick Ultra-Bold"/>
                <a:sym typeface="Gatwick Ultra-Bold"/>
              </a:rPr>
              <a:t>Full Stack Development Tools</a:t>
            </a:r>
          </a:p>
        </p:txBody>
      </p:sp>
      <p:sp>
        <p:nvSpPr>
          <p:cNvPr name="TextBox 8" id="8"/>
          <p:cNvSpPr txBox="true"/>
          <p:nvPr/>
        </p:nvSpPr>
        <p:spPr>
          <a:xfrm rot="0">
            <a:off x="1800225" y="150495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9CA3AF"/>
                </a:solidFill>
                <a:latin typeface="Codec Pro Ultra-Bold"/>
                <a:ea typeface="Codec Pro Ultra-Bold"/>
                <a:cs typeface="Codec Pro Ultra-Bold"/>
                <a:sym typeface="Codec Pro Ultra-Bold"/>
              </a:rPr>
              <a:t>OVERVIEW OF DEVELOPMENT TOOLS</a:t>
            </a:r>
          </a:p>
        </p:txBody>
      </p:sp>
      <p:sp>
        <p:nvSpPr>
          <p:cNvPr name="TextBox 9" id="9"/>
          <p:cNvSpPr txBox="true"/>
          <p:nvPr/>
        </p:nvSpPr>
        <p:spPr>
          <a:xfrm rot="0">
            <a:off x="1800225" y="6905091"/>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D1D5DB"/>
                </a:solidFill>
                <a:latin typeface="Codec Pro Ultra-Bold"/>
                <a:ea typeface="Codec Pro Ultra-Bold"/>
                <a:cs typeface="Codec Pro Ultra-Bold"/>
                <a:sym typeface="Codec Pro Ultra-Bold"/>
              </a:rPr>
              <a:t>Presented by Ramineni Usha</a:t>
            </a:r>
          </a:p>
        </p:txBody>
      </p:sp>
      <p:sp>
        <p:nvSpPr>
          <p:cNvPr name="TextBox 10" id="10"/>
          <p:cNvSpPr txBox="true"/>
          <p:nvPr/>
        </p:nvSpPr>
        <p:spPr>
          <a:xfrm rot="0">
            <a:off x="1800225" y="8094779"/>
            <a:ext cx="7496175" cy="688975"/>
          </a:xfrm>
          <a:prstGeom prst="rect">
            <a:avLst/>
          </a:prstGeom>
        </p:spPr>
        <p:txBody>
          <a:bodyPr anchor="t" rtlCol="false" tIns="0" lIns="0" bIns="0" rIns="0">
            <a:spAutoFit/>
          </a:bodyPr>
          <a:lstStyle/>
          <a:p>
            <a:pPr algn="ctr" marL="0" indent="0" lvl="0">
              <a:lnSpc>
                <a:spcPts val="4999"/>
              </a:lnSpc>
              <a:spcBef>
                <a:spcPct val="0"/>
              </a:spcBef>
            </a:pPr>
            <a:r>
              <a:rPr lang="en-US" b="true" sz="3999">
                <a:solidFill>
                  <a:srgbClr val="F9FAFB"/>
                </a:solidFill>
                <a:latin typeface="Codec Pro Ultra-Bold"/>
                <a:ea typeface="Codec Pro Ultra-Bold"/>
                <a:cs typeface="Codec Pro Ultra-Bold"/>
                <a:sym typeface="Codec Pro Ultra-Bold"/>
              </a:rPr>
              <a:t>CITY ENGINEERING COLLEGE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9FAFB"/>
            </a:solidFill>
          </p:spPr>
        </p:sp>
      </p:grpSp>
      <p:sp>
        <p:nvSpPr>
          <p:cNvPr name="TextBox 5" id="5"/>
          <p:cNvSpPr txBox="true"/>
          <p:nvPr/>
        </p:nvSpPr>
        <p:spPr>
          <a:xfrm rot="0">
            <a:off x="1210499" y="1366642"/>
            <a:ext cx="10306874" cy="7913126"/>
          </a:xfrm>
          <a:prstGeom prst="rect">
            <a:avLst/>
          </a:prstGeom>
        </p:spPr>
        <p:txBody>
          <a:bodyPr anchor="t" rtlCol="false" tIns="0" lIns="0" bIns="0" rIns="0">
            <a:spAutoFit/>
          </a:bodyPr>
          <a:lstStyle/>
          <a:p>
            <a:pPr algn="l" marL="0" indent="0" lvl="0">
              <a:lnSpc>
                <a:spcPts val="2743"/>
              </a:lnSpc>
            </a:pPr>
            <a:r>
              <a:rPr lang="en-US" sz="1959">
                <a:solidFill>
                  <a:srgbClr val="D1D5DB"/>
                </a:solidFill>
                <a:latin typeface="Codec Pro"/>
                <a:ea typeface="Codec Pro"/>
                <a:cs typeface="Codec Pro"/>
                <a:sym typeface="Codec Pro"/>
              </a:rPr>
              <a:t>Agenda</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Introduction</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Overview of full stack development</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Postman</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API testing tool insights</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Eclipse</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Java IDE features</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Java</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Core backend programming language</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HTML</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Structure of web pages</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CSS</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Visual design for web content</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GitHub</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Version control platform</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MySQL</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Relational database management</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Project Explanation</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Overview of Gaming Club Admin project</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Summary</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Recap of tools and integration</a:t>
            </a:r>
          </a:p>
          <a:p>
            <a:pPr algn="l" marL="423082" indent="-211541" lvl="1">
              <a:lnSpc>
                <a:spcPts val="2743"/>
              </a:lnSpc>
              <a:buAutoNum type="arabicPeriod" startAt="1"/>
            </a:pPr>
            <a:r>
              <a:rPr lang="en-US" b="true" sz="1959">
                <a:solidFill>
                  <a:srgbClr val="9CA3AF"/>
                </a:solidFill>
                <a:latin typeface="Codec Pro Bold"/>
                <a:ea typeface="Codec Pro Bold"/>
                <a:cs typeface="Codec Pro Bold"/>
                <a:sym typeface="Codec Pro Bold"/>
              </a:rPr>
              <a:t>Q&amp;A</a:t>
            </a:r>
          </a:p>
          <a:p>
            <a:pPr algn="l" marL="846165" indent="-282055" lvl="2">
              <a:lnSpc>
                <a:spcPts val="2743"/>
              </a:lnSpc>
              <a:buFont typeface="Arial"/>
              <a:buChar char="⚬"/>
            </a:pPr>
            <a:r>
              <a:rPr lang="en-US" sz="1959">
                <a:solidFill>
                  <a:srgbClr val="D1D5DB"/>
                </a:solidFill>
                <a:latin typeface="Codec Pro"/>
                <a:ea typeface="Codec Pro"/>
                <a:cs typeface="Codec Pro"/>
                <a:sym typeface="Codec Pro"/>
              </a:rPr>
              <a:t>Invite audience questions and feedback</a:t>
            </a:r>
          </a:p>
        </p:txBody>
      </p:sp>
      <p:sp>
        <p:nvSpPr>
          <p:cNvPr name="Freeform 6" id="6"/>
          <p:cNvSpPr/>
          <p:nvPr/>
        </p:nvSpPr>
        <p:spPr>
          <a:xfrm flipH="false" flipV="false" rot="0">
            <a:off x="9144000" y="1028700"/>
            <a:ext cx="7645322" cy="7688712"/>
          </a:xfrm>
          <a:custGeom>
            <a:avLst/>
            <a:gdLst/>
            <a:ahLst/>
            <a:cxnLst/>
            <a:rect r="r" b="b" t="t" l="l"/>
            <a:pathLst>
              <a:path h="7688712" w="7645322">
                <a:moveTo>
                  <a:pt x="0" y="0"/>
                </a:moveTo>
                <a:lnTo>
                  <a:pt x="7645322" y="0"/>
                </a:lnTo>
                <a:lnTo>
                  <a:pt x="7645322" y="7688712"/>
                </a:lnTo>
                <a:lnTo>
                  <a:pt x="0" y="76887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9144000" y="4322511"/>
            <a:ext cx="7645322" cy="1543257"/>
          </a:xfrm>
          <a:prstGeom prst="rect">
            <a:avLst/>
          </a:prstGeom>
        </p:spPr>
        <p:txBody>
          <a:bodyPr anchor="t" rtlCol="false" tIns="0" lIns="0" bIns="0" rIns="0">
            <a:spAutoFit/>
          </a:bodyPr>
          <a:lstStyle/>
          <a:p>
            <a:pPr algn="ctr">
              <a:lnSpc>
                <a:spcPts val="11678"/>
              </a:lnSpc>
              <a:spcBef>
                <a:spcPct val="0"/>
              </a:spcBef>
            </a:pPr>
            <a:r>
              <a:rPr lang="en-US" b="true" sz="8983">
                <a:solidFill>
                  <a:srgbClr val="000000"/>
                </a:solidFill>
                <a:latin typeface="Gatwick Ultra-Bold"/>
                <a:ea typeface="Gatwick Ultra-Bold"/>
                <a:cs typeface="Gatwick Ultra-Bold"/>
                <a:sym typeface="Gatwick Ultra-Bold"/>
              </a:rPr>
              <a:t>Agenda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9FAFB"/>
            </a:solidFill>
          </p:spPr>
        </p:sp>
      </p:grpSp>
      <p:sp>
        <p:nvSpPr>
          <p:cNvPr name="Freeform 5" id="5"/>
          <p:cNvSpPr/>
          <p:nvPr/>
        </p:nvSpPr>
        <p:spPr>
          <a:xfrm flipH="false" flipV="false" rot="0">
            <a:off x="1800225" y="2120070"/>
            <a:ext cx="6057900" cy="6046860"/>
          </a:xfrm>
          <a:custGeom>
            <a:avLst/>
            <a:gdLst/>
            <a:ahLst/>
            <a:cxnLst/>
            <a:rect r="r" b="b" t="t" l="l"/>
            <a:pathLst>
              <a:path h="6046860" w="6057900">
                <a:moveTo>
                  <a:pt x="0" y="0"/>
                </a:moveTo>
                <a:lnTo>
                  <a:pt x="6057900" y="0"/>
                </a:lnTo>
                <a:lnTo>
                  <a:pt x="6057900" y="6046860"/>
                </a:lnTo>
                <a:lnTo>
                  <a:pt x="0" y="6046860"/>
                </a:lnTo>
                <a:lnTo>
                  <a:pt x="0" y="0"/>
                </a:lnTo>
                <a:close/>
              </a:path>
            </a:pathLst>
          </a:custGeom>
          <a:blipFill>
            <a:blip r:embed="rId2">
              <a:extLst>
                <a:ext uri="{96DAC541-7B7A-43D3-8B79-37D633B846F1}">
                  <asvg:svgBlip xmlns:asvg="http://schemas.microsoft.com/office/drawing/2016/SVG/main" r:embed="rId3"/>
                </a:ext>
              </a:extLst>
            </a:blip>
            <a:stretch>
              <a:fillRect l="-3527" t="-1265" r="0" b="0"/>
            </a:stretch>
          </a:blipFill>
          <a:ln cap="sq">
            <a:noFill/>
            <a:prstDash val="solid"/>
            <a:miter/>
          </a:ln>
        </p:spPr>
      </p:sp>
      <p:grpSp>
        <p:nvGrpSpPr>
          <p:cNvPr name="Group 6" id="6"/>
          <p:cNvGrpSpPr/>
          <p:nvPr/>
        </p:nvGrpSpPr>
        <p:grpSpPr>
          <a:xfrm rot="0">
            <a:off x="9296400" y="1194626"/>
            <a:ext cx="6886575" cy="7248144"/>
            <a:chOff x="0" y="0"/>
            <a:chExt cx="9182100" cy="9664192"/>
          </a:xfrm>
        </p:grpSpPr>
        <p:sp>
          <p:nvSpPr>
            <p:cNvPr name="TextBox 7" id="7"/>
            <p:cNvSpPr txBox="true"/>
            <p:nvPr/>
          </p:nvSpPr>
          <p:spPr>
            <a:xfrm rot="0">
              <a:off x="0" y="-57150"/>
              <a:ext cx="9182100" cy="5391150"/>
            </a:xfrm>
            <a:prstGeom prst="rect">
              <a:avLst/>
            </a:prstGeom>
          </p:spPr>
          <p:txBody>
            <a:bodyPr anchor="t" rtlCol="false" tIns="0" lIns="0" bIns="0" rIns="0">
              <a:spAutoFit/>
            </a:bodyPr>
            <a:lstStyle/>
            <a:p>
              <a:pPr algn="ctr" marL="0" indent="0" lvl="0">
                <a:lnSpc>
                  <a:spcPts val="6358"/>
                </a:lnSpc>
              </a:pPr>
              <a:r>
                <a:rPr lang="en-US" b="true" sz="5298" spc="-132">
                  <a:solidFill>
                    <a:srgbClr val="F9FAFB"/>
                  </a:solidFill>
                  <a:latin typeface="Gatwick Ultra-Bold"/>
                  <a:ea typeface="Gatwick Ultra-Bold"/>
                  <a:cs typeface="Gatwick Ultra-Bold"/>
                  <a:sym typeface="Gatwick Ultra-Bold"/>
                </a:rPr>
                <a:t>Understanding Full Stack Development: Concepts and Essential Tools</a:t>
              </a:r>
            </a:p>
          </p:txBody>
        </p:sp>
        <p:sp>
          <p:nvSpPr>
            <p:cNvPr name="TextBox 8" id="8"/>
            <p:cNvSpPr txBox="true"/>
            <p:nvPr/>
          </p:nvSpPr>
          <p:spPr>
            <a:xfrm rot="0">
              <a:off x="0" y="5673725"/>
              <a:ext cx="9182100" cy="3990467"/>
            </a:xfrm>
            <a:prstGeom prst="rect">
              <a:avLst/>
            </a:prstGeom>
          </p:spPr>
          <p:txBody>
            <a:bodyPr anchor="t" rtlCol="false" tIns="0" lIns="0" bIns="0" rIns="0">
              <a:spAutoFit/>
            </a:bodyPr>
            <a:lstStyle/>
            <a:p>
              <a:pPr algn="ctr" marL="0" indent="0" lvl="0">
                <a:lnSpc>
                  <a:spcPts val="2964"/>
                </a:lnSpc>
              </a:pPr>
              <a:r>
                <a:rPr lang="en-US" sz="2280">
                  <a:solidFill>
                    <a:srgbClr val="D1D5DB"/>
                  </a:solidFill>
                  <a:latin typeface="Codec Pro"/>
                  <a:ea typeface="Codec Pro"/>
                  <a:cs typeface="Codec Pro"/>
                  <a:sym typeface="Codec Pro"/>
                </a:rPr>
                <a:t>Full stack development encompasses the </a:t>
              </a:r>
              <a:r>
                <a:rPr lang="en-US" b="true" sz="2280">
                  <a:solidFill>
                    <a:srgbClr val="D1D5DB"/>
                  </a:solidFill>
                  <a:latin typeface="Codec Pro Bold"/>
                  <a:ea typeface="Codec Pro Bold"/>
                  <a:cs typeface="Codec Pro Bold"/>
                  <a:sym typeface="Codec Pro Bold"/>
                </a:rPr>
                <a:t>frontend, backend</a:t>
              </a:r>
              <a:r>
                <a:rPr lang="en-US" sz="2280">
                  <a:solidFill>
                    <a:srgbClr val="D1D5DB"/>
                  </a:solidFill>
                  <a:latin typeface="Codec Pro"/>
                  <a:ea typeface="Codec Pro"/>
                  <a:cs typeface="Codec Pro"/>
                  <a:sym typeface="Codec Pro"/>
                </a:rPr>
                <a:t>, and database layers, creating a seamless web experience. Each tool, including </a:t>
              </a:r>
              <a:r>
                <a:rPr lang="en-US" b="true" sz="2280">
                  <a:solidFill>
                    <a:srgbClr val="D1D5DB"/>
                  </a:solidFill>
                  <a:latin typeface="Codec Pro Bold"/>
                  <a:ea typeface="Codec Pro Bold"/>
                  <a:cs typeface="Codec Pro Bold"/>
                  <a:sym typeface="Codec Pro Bold"/>
                </a:rPr>
                <a:t>Postman, Eclipse, Java</a:t>
              </a:r>
              <a:r>
                <a:rPr lang="en-US" sz="2280">
                  <a:solidFill>
                    <a:srgbClr val="D1D5DB"/>
                  </a:solidFill>
                  <a:latin typeface="Codec Pro"/>
                  <a:ea typeface="Codec Pro"/>
                  <a:cs typeface="Codec Pro"/>
                  <a:sym typeface="Codec Pro"/>
                </a:rPr>
                <a:t>, and others, plays a crucial role in ensuring efficient and effective end-to-end development, facilitating collaboration between various components of the application architecture.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9CA3AF"/>
            </a:solidFill>
          </p:spPr>
        </p:sp>
      </p:grpSp>
      <p:grpSp>
        <p:nvGrpSpPr>
          <p:cNvPr name="Group 5" id="5"/>
          <p:cNvGrpSpPr/>
          <p:nvPr/>
        </p:nvGrpSpPr>
        <p:grpSpPr>
          <a:xfrm rot="0">
            <a:off x="1492732" y="2559367"/>
            <a:ext cx="6681469" cy="3749784"/>
            <a:chOff x="0" y="0"/>
            <a:chExt cx="1347420" cy="756201"/>
          </a:xfrm>
        </p:grpSpPr>
        <p:sp>
          <p:nvSpPr>
            <p:cNvPr name="Freeform 6" id="6"/>
            <p:cNvSpPr/>
            <p:nvPr/>
          </p:nvSpPr>
          <p:spPr>
            <a:xfrm flipH="false" flipV="false" rot="0">
              <a:off x="0" y="0"/>
              <a:ext cx="1347420" cy="756201"/>
            </a:xfrm>
            <a:custGeom>
              <a:avLst/>
              <a:gdLst/>
              <a:ahLst/>
              <a:cxnLst/>
              <a:rect r="r" b="b" t="t" l="l"/>
              <a:pathLst>
                <a:path h="756201" w="1347420">
                  <a:moveTo>
                    <a:pt x="57936" y="0"/>
                  </a:moveTo>
                  <a:lnTo>
                    <a:pt x="1289484" y="0"/>
                  </a:lnTo>
                  <a:cubicBezTo>
                    <a:pt x="1304850" y="0"/>
                    <a:pt x="1319586" y="6104"/>
                    <a:pt x="1330451" y="16969"/>
                  </a:cubicBezTo>
                  <a:cubicBezTo>
                    <a:pt x="1341316" y="27834"/>
                    <a:pt x="1347420" y="42570"/>
                    <a:pt x="1347420" y="57936"/>
                  </a:cubicBezTo>
                  <a:lnTo>
                    <a:pt x="1347420" y="698265"/>
                  </a:lnTo>
                  <a:cubicBezTo>
                    <a:pt x="1347420" y="713631"/>
                    <a:pt x="1341316" y="728367"/>
                    <a:pt x="1330451" y="739232"/>
                  </a:cubicBezTo>
                  <a:cubicBezTo>
                    <a:pt x="1319586" y="750097"/>
                    <a:pt x="1304850" y="756201"/>
                    <a:pt x="1289484" y="756201"/>
                  </a:cubicBezTo>
                  <a:lnTo>
                    <a:pt x="57936" y="756201"/>
                  </a:lnTo>
                  <a:cubicBezTo>
                    <a:pt x="42570" y="756201"/>
                    <a:pt x="27834" y="750097"/>
                    <a:pt x="16969" y="739232"/>
                  </a:cubicBezTo>
                  <a:cubicBezTo>
                    <a:pt x="6104" y="728367"/>
                    <a:pt x="0" y="713631"/>
                    <a:pt x="0" y="698265"/>
                  </a:cubicBezTo>
                  <a:lnTo>
                    <a:pt x="0" y="57936"/>
                  </a:lnTo>
                  <a:cubicBezTo>
                    <a:pt x="0" y="42570"/>
                    <a:pt x="6104" y="27834"/>
                    <a:pt x="16969" y="16969"/>
                  </a:cubicBezTo>
                  <a:cubicBezTo>
                    <a:pt x="27834" y="6104"/>
                    <a:pt x="42570" y="0"/>
                    <a:pt x="57936" y="0"/>
                  </a:cubicBezTo>
                  <a:close/>
                </a:path>
              </a:pathLst>
            </a:custGeom>
            <a:blipFill>
              <a:blip r:embed="rId2"/>
              <a:stretch>
                <a:fillRect l="-893" t="-4464" r="-893" b="0"/>
              </a:stretch>
            </a:blipFill>
            <a:ln w="38100" cap="rnd">
              <a:solidFill>
                <a:srgbClr val="000000"/>
              </a:solidFill>
              <a:prstDash val="solid"/>
              <a:round/>
            </a:ln>
          </p:spPr>
        </p:sp>
      </p:grpSp>
      <p:grpSp>
        <p:nvGrpSpPr>
          <p:cNvPr name="Group 7" id="7"/>
          <p:cNvGrpSpPr/>
          <p:nvPr/>
        </p:nvGrpSpPr>
        <p:grpSpPr>
          <a:xfrm rot="0">
            <a:off x="3406231" y="5245418"/>
            <a:ext cx="6681469" cy="3749784"/>
            <a:chOff x="0" y="0"/>
            <a:chExt cx="1347420" cy="756201"/>
          </a:xfrm>
        </p:grpSpPr>
        <p:sp>
          <p:nvSpPr>
            <p:cNvPr name="Freeform 8" id="8"/>
            <p:cNvSpPr/>
            <p:nvPr/>
          </p:nvSpPr>
          <p:spPr>
            <a:xfrm flipH="false" flipV="false" rot="0">
              <a:off x="0" y="0"/>
              <a:ext cx="1347420" cy="756201"/>
            </a:xfrm>
            <a:custGeom>
              <a:avLst/>
              <a:gdLst/>
              <a:ahLst/>
              <a:cxnLst/>
              <a:rect r="r" b="b" t="t" l="l"/>
              <a:pathLst>
                <a:path h="756201" w="1347420">
                  <a:moveTo>
                    <a:pt x="57936" y="0"/>
                  </a:moveTo>
                  <a:lnTo>
                    <a:pt x="1289484" y="0"/>
                  </a:lnTo>
                  <a:cubicBezTo>
                    <a:pt x="1304850" y="0"/>
                    <a:pt x="1319586" y="6104"/>
                    <a:pt x="1330451" y="16969"/>
                  </a:cubicBezTo>
                  <a:cubicBezTo>
                    <a:pt x="1341316" y="27834"/>
                    <a:pt x="1347420" y="42570"/>
                    <a:pt x="1347420" y="57936"/>
                  </a:cubicBezTo>
                  <a:lnTo>
                    <a:pt x="1347420" y="698265"/>
                  </a:lnTo>
                  <a:cubicBezTo>
                    <a:pt x="1347420" y="713631"/>
                    <a:pt x="1341316" y="728367"/>
                    <a:pt x="1330451" y="739232"/>
                  </a:cubicBezTo>
                  <a:cubicBezTo>
                    <a:pt x="1319586" y="750097"/>
                    <a:pt x="1304850" y="756201"/>
                    <a:pt x="1289484" y="756201"/>
                  </a:cubicBezTo>
                  <a:lnTo>
                    <a:pt x="57936" y="756201"/>
                  </a:lnTo>
                  <a:cubicBezTo>
                    <a:pt x="42570" y="756201"/>
                    <a:pt x="27834" y="750097"/>
                    <a:pt x="16969" y="739232"/>
                  </a:cubicBezTo>
                  <a:cubicBezTo>
                    <a:pt x="6104" y="728367"/>
                    <a:pt x="0" y="713631"/>
                    <a:pt x="0" y="698265"/>
                  </a:cubicBezTo>
                  <a:lnTo>
                    <a:pt x="0" y="57936"/>
                  </a:lnTo>
                  <a:cubicBezTo>
                    <a:pt x="0" y="42570"/>
                    <a:pt x="6104" y="27834"/>
                    <a:pt x="16969" y="16969"/>
                  </a:cubicBezTo>
                  <a:cubicBezTo>
                    <a:pt x="27834" y="6104"/>
                    <a:pt x="42570" y="0"/>
                    <a:pt x="57936" y="0"/>
                  </a:cubicBezTo>
                  <a:close/>
                </a:path>
              </a:pathLst>
            </a:custGeom>
            <a:blipFill>
              <a:blip r:embed="rId2"/>
              <a:stretch>
                <a:fillRect l="0" t="-1187" r="0" b="-1187"/>
              </a:stretch>
            </a:blipFill>
            <a:ln w="38100" cap="rnd">
              <a:solidFill>
                <a:srgbClr val="000000"/>
              </a:solidFill>
              <a:prstDash val="solid"/>
              <a:round/>
            </a:ln>
          </p:spPr>
        </p:sp>
      </p:grpSp>
      <p:sp>
        <p:nvSpPr>
          <p:cNvPr name="TextBox 9" id="9"/>
          <p:cNvSpPr txBox="true"/>
          <p:nvPr/>
        </p:nvSpPr>
        <p:spPr>
          <a:xfrm rot="0">
            <a:off x="2105025" y="1514475"/>
            <a:ext cx="14077950" cy="819150"/>
          </a:xfrm>
          <a:prstGeom prst="rect">
            <a:avLst/>
          </a:prstGeom>
        </p:spPr>
        <p:txBody>
          <a:bodyPr anchor="t" rtlCol="false" tIns="0" lIns="0" bIns="0" rIns="0">
            <a:spAutoFit/>
          </a:bodyPr>
          <a:lstStyle/>
          <a:p>
            <a:pPr algn="ctr" marL="0" indent="0" lvl="0">
              <a:lnSpc>
                <a:spcPts val="6075"/>
              </a:lnSpc>
            </a:pPr>
            <a:r>
              <a:rPr lang="en-US" b="true" sz="5062" spc="-126">
                <a:solidFill>
                  <a:srgbClr val="F9FAFB"/>
                </a:solidFill>
                <a:latin typeface="Gatwick Ultra-Bold"/>
                <a:ea typeface="Gatwick Ultra-Bold"/>
                <a:cs typeface="Gatwick Ultra-Bold"/>
                <a:sym typeface="Gatwick Ultra-Bold"/>
              </a:rPr>
              <a:t>Postman: Powerful API Testing Tool</a:t>
            </a:r>
          </a:p>
        </p:txBody>
      </p:sp>
      <p:grpSp>
        <p:nvGrpSpPr>
          <p:cNvPr name="Group 10" id="10"/>
          <p:cNvGrpSpPr/>
          <p:nvPr/>
        </p:nvGrpSpPr>
        <p:grpSpPr>
          <a:xfrm rot="0">
            <a:off x="12172950" y="3822699"/>
            <a:ext cx="4314825" cy="4432301"/>
            <a:chOff x="0" y="0"/>
            <a:chExt cx="5753100" cy="5909735"/>
          </a:xfrm>
        </p:grpSpPr>
        <p:sp>
          <p:nvSpPr>
            <p:cNvPr name="TextBox 11" id="11"/>
            <p:cNvSpPr txBox="true"/>
            <p:nvPr/>
          </p:nvSpPr>
          <p:spPr>
            <a:xfrm rot="0">
              <a:off x="0" y="1813137"/>
              <a:ext cx="5753100" cy="4096597"/>
            </a:xfrm>
            <a:prstGeom prst="rect">
              <a:avLst/>
            </a:prstGeom>
          </p:spPr>
          <p:txBody>
            <a:bodyPr anchor="t" rtlCol="false" tIns="0" lIns="0" bIns="0" rIns="0">
              <a:spAutoFit/>
            </a:bodyPr>
            <a:lstStyle/>
            <a:p>
              <a:pPr algn="ctr" marL="0" indent="0" lvl="0">
                <a:lnSpc>
                  <a:spcPts val="4809"/>
                </a:lnSpc>
              </a:pPr>
              <a:r>
                <a:rPr lang="en-US" sz="3699">
                  <a:solidFill>
                    <a:srgbClr val="D1D5DB"/>
                  </a:solidFill>
                  <a:latin typeface="Codec Pro"/>
                  <a:ea typeface="Codec Pro"/>
                  <a:cs typeface="Codec Pro"/>
                  <a:sym typeface="Codec Pro"/>
                </a:rPr>
                <a:t>Postman simplifies API development with features for testing and automation.</a:t>
              </a:r>
            </a:p>
          </p:txBody>
        </p:sp>
        <p:sp>
          <p:nvSpPr>
            <p:cNvPr name="TextBox 12" id="12"/>
            <p:cNvSpPr txBox="true"/>
            <p:nvPr/>
          </p:nvSpPr>
          <p:spPr>
            <a:xfrm rot="0">
              <a:off x="0" y="-104775"/>
              <a:ext cx="5753100" cy="1911562"/>
            </a:xfrm>
            <a:prstGeom prst="rect">
              <a:avLst/>
            </a:prstGeom>
          </p:spPr>
          <p:txBody>
            <a:bodyPr anchor="t" rtlCol="false" tIns="0" lIns="0" bIns="0" rIns="0">
              <a:spAutoFit/>
            </a:bodyPr>
            <a:lstStyle/>
            <a:p>
              <a:pPr algn="ctr" marL="0" indent="0" lvl="0">
                <a:lnSpc>
                  <a:spcPts val="5589"/>
                </a:lnSpc>
              </a:pPr>
              <a:r>
                <a:rPr lang="en-US" b="true" sz="4299">
                  <a:solidFill>
                    <a:srgbClr val="F9FAFB"/>
                  </a:solidFill>
                  <a:latin typeface="Codec Pro Ultra-Bold"/>
                  <a:ea typeface="Codec Pro Ultra-Bold"/>
                  <a:cs typeface="Codec Pro Ultra-Bold"/>
                  <a:sym typeface="Codec Pro Ultra-Bold"/>
                </a:rPr>
                <a:t>API Testing and Debugging</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304800" y="568642"/>
            <a:ext cx="17679879" cy="8953500"/>
            <a:chOff x="0" y="0"/>
            <a:chExt cx="5979426" cy="3028120"/>
          </a:xfrm>
        </p:grpSpPr>
        <p:sp>
          <p:nvSpPr>
            <p:cNvPr name="Freeform 3" id="3"/>
            <p:cNvSpPr/>
            <p:nvPr/>
          </p:nvSpPr>
          <p:spPr>
            <a:xfrm flipH="false" flipV="false" rot="0">
              <a:off x="12700" y="12700"/>
              <a:ext cx="5914656" cy="2959540"/>
            </a:xfrm>
            <a:custGeom>
              <a:avLst/>
              <a:gdLst/>
              <a:ahLst/>
              <a:cxnLst/>
              <a:rect r="r" b="b" t="t" l="l"/>
              <a:pathLst>
                <a:path h="2959540" w="5914656">
                  <a:moveTo>
                    <a:pt x="146050" y="2959540"/>
                  </a:moveTo>
                  <a:lnTo>
                    <a:pt x="5768606" y="2959540"/>
                  </a:lnTo>
                  <a:cubicBezTo>
                    <a:pt x="5848616" y="2959540"/>
                    <a:pt x="5914656" y="2893500"/>
                    <a:pt x="5914656" y="2813490"/>
                  </a:cubicBezTo>
                  <a:lnTo>
                    <a:pt x="5914656" y="146050"/>
                  </a:lnTo>
                  <a:cubicBezTo>
                    <a:pt x="5914656" y="66040"/>
                    <a:pt x="5848616" y="0"/>
                    <a:pt x="5768606"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979426" cy="3028120"/>
            </a:xfrm>
            <a:custGeom>
              <a:avLst/>
              <a:gdLst/>
              <a:ahLst/>
              <a:cxnLst/>
              <a:rect r="r" b="b" t="t" l="l"/>
              <a:pathLst>
                <a:path h="3028120" w="5979426">
                  <a:moveTo>
                    <a:pt x="5915926" y="74930"/>
                  </a:moveTo>
                  <a:cubicBezTo>
                    <a:pt x="5887986" y="30480"/>
                    <a:pt x="5838456" y="0"/>
                    <a:pt x="5781306" y="0"/>
                  </a:cubicBezTo>
                  <a:lnTo>
                    <a:pt x="158750" y="0"/>
                  </a:lnTo>
                  <a:cubicBezTo>
                    <a:pt x="71120" y="0"/>
                    <a:pt x="0" y="71120"/>
                    <a:pt x="0" y="158750"/>
                  </a:cubicBezTo>
                  <a:lnTo>
                    <a:pt x="0" y="2826190"/>
                  </a:lnTo>
                  <a:cubicBezTo>
                    <a:pt x="0" y="2878260"/>
                    <a:pt x="25400" y="2923980"/>
                    <a:pt x="63500" y="2953190"/>
                  </a:cubicBezTo>
                  <a:cubicBezTo>
                    <a:pt x="91440" y="2997640"/>
                    <a:pt x="140970" y="3028120"/>
                    <a:pt x="218056" y="3028120"/>
                  </a:cubicBezTo>
                  <a:lnTo>
                    <a:pt x="5820676" y="3028120"/>
                  </a:lnTo>
                  <a:cubicBezTo>
                    <a:pt x="5908306" y="3028120"/>
                    <a:pt x="5979426" y="2957000"/>
                    <a:pt x="5979426" y="2869370"/>
                  </a:cubicBezTo>
                  <a:lnTo>
                    <a:pt x="5979426" y="208926"/>
                  </a:lnTo>
                  <a:cubicBezTo>
                    <a:pt x="5979426" y="149860"/>
                    <a:pt x="5954026" y="104140"/>
                    <a:pt x="5915926" y="74930"/>
                  </a:cubicBezTo>
                  <a:close/>
                  <a:moveTo>
                    <a:pt x="12700" y="2826190"/>
                  </a:moveTo>
                  <a:lnTo>
                    <a:pt x="12700" y="158750"/>
                  </a:lnTo>
                  <a:cubicBezTo>
                    <a:pt x="12700" y="78740"/>
                    <a:pt x="78740" y="12700"/>
                    <a:pt x="158750" y="12700"/>
                  </a:cubicBezTo>
                  <a:lnTo>
                    <a:pt x="5781306" y="12700"/>
                  </a:lnTo>
                  <a:cubicBezTo>
                    <a:pt x="5861316" y="12700"/>
                    <a:pt x="5927356" y="78740"/>
                    <a:pt x="5927356" y="158750"/>
                  </a:cubicBezTo>
                  <a:lnTo>
                    <a:pt x="5927356" y="2826190"/>
                  </a:lnTo>
                  <a:cubicBezTo>
                    <a:pt x="5927356" y="2906200"/>
                    <a:pt x="5861316" y="2972240"/>
                    <a:pt x="5781306" y="2972240"/>
                  </a:cubicBezTo>
                  <a:lnTo>
                    <a:pt x="158750" y="2972240"/>
                  </a:lnTo>
                  <a:cubicBezTo>
                    <a:pt x="78740" y="2972240"/>
                    <a:pt x="12700" y="2907470"/>
                    <a:pt x="12700" y="2826190"/>
                  </a:cubicBezTo>
                  <a:close/>
                </a:path>
              </a:pathLst>
            </a:custGeom>
            <a:solidFill>
              <a:srgbClr val="F9FAFB"/>
            </a:solidFill>
          </p:spPr>
        </p:sp>
      </p:grpSp>
      <p:grpSp>
        <p:nvGrpSpPr>
          <p:cNvPr name="Group 5" id="5"/>
          <p:cNvGrpSpPr/>
          <p:nvPr/>
        </p:nvGrpSpPr>
        <p:grpSpPr>
          <a:xfrm rot="0">
            <a:off x="1090857" y="3082498"/>
            <a:ext cx="6681469" cy="3749784"/>
            <a:chOff x="0" y="0"/>
            <a:chExt cx="1347420" cy="756201"/>
          </a:xfrm>
        </p:grpSpPr>
        <p:sp>
          <p:nvSpPr>
            <p:cNvPr name="Freeform 6" id="6"/>
            <p:cNvSpPr/>
            <p:nvPr/>
          </p:nvSpPr>
          <p:spPr>
            <a:xfrm flipH="false" flipV="false" rot="0">
              <a:off x="0" y="0"/>
              <a:ext cx="1347420" cy="756201"/>
            </a:xfrm>
            <a:custGeom>
              <a:avLst/>
              <a:gdLst/>
              <a:ahLst/>
              <a:cxnLst/>
              <a:rect r="r" b="b" t="t" l="l"/>
              <a:pathLst>
                <a:path h="756201" w="1347420">
                  <a:moveTo>
                    <a:pt x="57936" y="0"/>
                  </a:moveTo>
                  <a:lnTo>
                    <a:pt x="1289484" y="0"/>
                  </a:lnTo>
                  <a:cubicBezTo>
                    <a:pt x="1304850" y="0"/>
                    <a:pt x="1319586" y="6104"/>
                    <a:pt x="1330451" y="16969"/>
                  </a:cubicBezTo>
                  <a:cubicBezTo>
                    <a:pt x="1341316" y="27834"/>
                    <a:pt x="1347420" y="42570"/>
                    <a:pt x="1347420" y="57936"/>
                  </a:cubicBezTo>
                  <a:lnTo>
                    <a:pt x="1347420" y="698265"/>
                  </a:lnTo>
                  <a:cubicBezTo>
                    <a:pt x="1347420" y="713631"/>
                    <a:pt x="1341316" y="728367"/>
                    <a:pt x="1330451" y="739232"/>
                  </a:cubicBezTo>
                  <a:cubicBezTo>
                    <a:pt x="1319586" y="750097"/>
                    <a:pt x="1304850" y="756201"/>
                    <a:pt x="1289484" y="756201"/>
                  </a:cubicBezTo>
                  <a:lnTo>
                    <a:pt x="57936" y="756201"/>
                  </a:lnTo>
                  <a:cubicBezTo>
                    <a:pt x="42570" y="756201"/>
                    <a:pt x="27834" y="750097"/>
                    <a:pt x="16969" y="739232"/>
                  </a:cubicBezTo>
                  <a:cubicBezTo>
                    <a:pt x="6104" y="728367"/>
                    <a:pt x="0" y="713631"/>
                    <a:pt x="0" y="698265"/>
                  </a:cubicBezTo>
                  <a:lnTo>
                    <a:pt x="0" y="57936"/>
                  </a:lnTo>
                  <a:cubicBezTo>
                    <a:pt x="0" y="42570"/>
                    <a:pt x="6104" y="27834"/>
                    <a:pt x="16969" y="16969"/>
                  </a:cubicBezTo>
                  <a:cubicBezTo>
                    <a:pt x="27834" y="6104"/>
                    <a:pt x="42570" y="0"/>
                    <a:pt x="57936" y="0"/>
                  </a:cubicBezTo>
                  <a:close/>
                </a:path>
              </a:pathLst>
            </a:custGeom>
            <a:blipFill>
              <a:blip r:embed="rId2"/>
              <a:stretch>
                <a:fillRect l="0" t="-53" r="0" b="-53"/>
              </a:stretch>
            </a:blipFill>
            <a:ln w="38100" cap="rnd">
              <a:solidFill>
                <a:srgbClr val="000000"/>
              </a:solidFill>
              <a:prstDash val="solid"/>
              <a:round/>
            </a:ln>
          </p:spPr>
        </p:sp>
      </p:grpSp>
      <p:grpSp>
        <p:nvGrpSpPr>
          <p:cNvPr name="Group 7" id="7"/>
          <p:cNvGrpSpPr/>
          <p:nvPr/>
        </p:nvGrpSpPr>
        <p:grpSpPr>
          <a:xfrm rot="0">
            <a:off x="3880998" y="4957390"/>
            <a:ext cx="6681469" cy="3749784"/>
            <a:chOff x="0" y="0"/>
            <a:chExt cx="1347420" cy="756201"/>
          </a:xfrm>
        </p:grpSpPr>
        <p:sp>
          <p:nvSpPr>
            <p:cNvPr name="Freeform 8" id="8"/>
            <p:cNvSpPr/>
            <p:nvPr/>
          </p:nvSpPr>
          <p:spPr>
            <a:xfrm flipH="false" flipV="false" rot="0">
              <a:off x="0" y="0"/>
              <a:ext cx="1347420" cy="756201"/>
            </a:xfrm>
            <a:custGeom>
              <a:avLst/>
              <a:gdLst/>
              <a:ahLst/>
              <a:cxnLst/>
              <a:rect r="r" b="b" t="t" l="l"/>
              <a:pathLst>
                <a:path h="756201" w="1347420">
                  <a:moveTo>
                    <a:pt x="57936" y="0"/>
                  </a:moveTo>
                  <a:lnTo>
                    <a:pt x="1289484" y="0"/>
                  </a:lnTo>
                  <a:cubicBezTo>
                    <a:pt x="1304850" y="0"/>
                    <a:pt x="1319586" y="6104"/>
                    <a:pt x="1330451" y="16969"/>
                  </a:cubicBezTo>
                  <a:cubicBezTo>
                    <a:pt x="1341316" y="27834"/>
                    <a:pt x="1347420" y="42570"/>
                    <a:pt x="1347420" y="57936"/>
                  </a:cubicBezTo>
                  <a:lnTo>
                    <a:pt x="1347420" y="698265"/>
                  </a:lnTo>
                  <a:cubicBezTo>
                    <a:pt x="1347420" y="713631"/>
                    <a:pt x="1341316" y="728367"/>
                    <a:pt x="1330451" y="739232"/>
                  </a:cubicBezTo>
                  <a:cubicBezTo>
                    <a:pt x="1319586" y="750097"/>
                    <a:pt x="1304850" y="756201"/>
                    <a:pt x="1289484" y="756201"/>
                  </a:cubicBezTo>
                  <a:lnTo>
                    <a:pt x="57936" y="756201"/>
                  </a:lnTo>
                  <a:cubicBezTo>
                    <a:pt x="42570" y="756201"/>
                    <a:pt x="27834" y="750097"/>
                    <a:pt x="16969" y="739232"/>
                  </a:cubicBezTo>
                  <a:cubicBezTo>
                    <a:pt x="6104" y="728367"/>
                    <a:pt x="0" y="713631"/>
                    <a:pt x="0" y="698265"/>
                  </a:cubicBezTo>
                  <a:lnTo>
                    <a:pt x="0" y="57936"/>
                  </a:lnTo>
                  <a:cubicBezTo>
                    <a:pt x="0" y="42570"/>
                    <a:pt x="6104" y="27834"/>
                    <a:pt x="16969" y="16969"/>
                  </a:cubicBezTo>
                  <a:cubicBezTo>
                    <a:pt x="27834" y="6104"/>
                    <a:pt x="42570" y="0"/>
                    <a:pt x="57936" y="0"/>
                  </a:cubicBezTo>
                  <a:close/>
                </a:path>
              </a:pathLst>
            </a:custGeom>
            <a:blipFill>
              <a:blip r:embed="rId3"/>
              <a:stretch>
                <a:fillRect l="0" t="-53" r="0" b="-53"/>
              </a:stretch>
            </a:blipFill>
            <a:ln w="38100" cap="rnd">
              <a:solidFill>
                <a:srgbClr val="000000"/>
              </a:solidFill>
              <a:prstDash val="solid"/>
              <a:round/>
            </a:ln>
          </p:spPr>
        </p:sp>
      </p:grpSp>
      <p:sp>
        <p:nvSpPr>
          <p:cNvPr name="TextBox 9" id="9"/>
          <p:cNvSpPr txBox="true"/>
          <p:nvPr/>
        </p:nvSpPr>
        <p:spPr>
          <a:xfrm rot="0">
            <a:off x="2105025" y="1504950"/>
            <a:ext cx="14077950" cy="1314450"/>
          </a:xfrm>
          <a:prstGeom prst="rect">
            <a:avLst/>
          </a:prstGeom>
        </p:spPr>
        <p:txBody>
          <a:bodyPr anchor="t" rtlCol="false" tIns="0" lIns="0" bIns="0" rIns="0">
            <a:spAutoFit/>
          </a:bodyPr>
          <a:lstStyle/>
          <a:p>
            <a:pPr algn="ctr" marL="0" indent="0" lvl="0">
              <a:lnSpc>
                <a:spcPts val="5020"/>
              </a:lnSpc>
            </a:pPr>
            <a:r>
              <a:rPr lang="en-US" b="true" sz="4184" spc="-104">
                <a:solidFill>
                  <a:srgbClr val="F9FAFB"/>
                </a:solidFill>
                <a:latin typeface="Gatwick Ultra-Bold"/>
                <a:ea typeface="Gatwick Ultra-Bold"/>
                <a:cs typeface="Gatwick Ultra-Bold"/>
                <a:sym typeface="Gatwick Ultra-Bold"/>
              </a:rPr>
              <a:t>Eclipse IDE: Java Development Environment Insights</a:t>
            </a:r>
          </a:p>
        </p:txBody>
      </p:sp>
      <p:grpSp>
        <p:nvGrpSpPr>
          <p:cNvPr name="Group 10" id="10"/>
          <p:cNvGrpSpPr/>
          <p:nvPr/>
        </p:nvGrpSpPr>
        <p:grpSpPr>
          <a:xfrm rot="0">
            <a:off x="12107006" y="2875597"/>
            <a:ext cx="4314825" cy="4535806"/>
            <a:chOff x="0" y="0"/>
            <a:chExt cx="5753100" cy="6047741"/>
          </a:xfrm>
        </p:grpSpPr>
        <p:sp>
          <p:nvSpPr>
            <p:cNvPr name="TextBox 11" id="11"/>
            <p:cNvSpPr txBox="true"/>
            <p:nvPr/>
          </p:nvSpPr>
          <p:spPr>
            <a:xfrm rot="0">
              <a:off x="0" y="2873376"/>
              <a:ext cx="5753100" cy="3174366"/>
            </a:xfrm>
            <a:prstGeom prst="rect">
              <a:avLst/>
            </a:prstGeom>
          </p:spPr>
          <p:txBody>
            <a:bodyPr anchor="t" rtlCol="false" tIns="0" lIns="0" bIns="0" rIns="0">
              <a:spAutoFit/>
            </a:bodyPr>
            <a:lstStyle/>
            <a:p>
              <a:pPr algn="ctr" marL="0" indent="0" lvl="0">
                <a:lnSpc>
                  <a:spcPts val="4679"/>
                </a:lnSpc>
              </a:pPr>
              <a:r>
                <a:rPr lang="en-US" sz="3599">
                  <a:solidFill>
                    <a:srgbClr val="D1D5DB"/>
                  </a:solidFill>
                  <a:latin typeface="Codec Pro"/>
                  <a:ea typeface="Codec Pro"/>
                  <a:cs typeface="Codec Pro"/>
                  <a:sym typeface="Codec Pro"/>
                </a:rPr>
                <a:t>Eclipse simplifies Java coding and debugging with powerful features.</a:t>
              </a:r>
            </a:p>
          </p:txBody>
        </p:sp>
        <p:sp>
          <p:nvSpPr>
            <p:cNvPr name="TextBox 12" id="12"/>
            <p:cNvSpPr txBox="true"/>
            <p:nvPr/>
          </p:nvSpPr>
          <p:spPr>
            <a:xfrm rot="0">
              <a:off x="0" y="-123825"/>
              <a:ext cx="5753100" cy="2981326"/>
            </a:xfrm>
            <a:prstGeom prst="rect">
              <a:avLst/>
            </a:prstGeom>
          </p:spPr>
          <p:txBody>
            <a:bodyPr anchor="t" rtlCol="false" tIns="0" lIns="0" bIns="0" rIns="0">
              <a:spAutoFit/>
            </a:bodyPr>
            <a:lstStyle/>
            <a:p>
              <a:pPr algn="ctr" marL="0" indent="0" lvl="0">
                <a:lnSpc>
                  <a:spcPts val="5849"/>
                </a:lnSpc>
              </a:pPr>
              <a:r>
                <a:rPr lang="en-US" b="true" sz="4499">
                  <a:solidFill>
                    <a:srgbClr val="F9FAFB"/>
                  </a:solidFill>
                  <a:latin typeface="Codec Pro Ultra-Bold"/>
                  <a:ea typeface="Codec Pro Ultra-Bold"/>
                  <a:cs typeface="Codec Pro Ultra-Bold"/>
                  <a:sym typeface="Codec Pro Ultra-Bold"/>
                </a:rPr>
                <a:t>Integrated Development Environment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76275"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9FAFB"/>
            </a:solidFill>
          </p:spPr>
        </p:sp>
      </p:grpSp>
      <p:sp>
        <p:nvSpPr>
          <p:cNvPr name="TextBox 5" id="5"/>
          <p:cNvSpPr txBox="true"/>
          <p:nvPr/>
        </p:nvSpPr>
        <p:spPr>
          <a:xfrm rot="0">
            <a:off x="2105025" y="1504950"/>
            <a:ext cx="14077950" cy="1314450"/>
          </a:xfrm>
          <a:prstGeom prst="rect">
            <a:avLst/>
          </a:prstGeom>
        </p:spPr>
        <p:txBody>
          <a:bodyPr anchor="t" rtlCol="false" tIns="0" lIns="0" bIns="0" rIns="0">
            <a:spAutoFit/>
          </a:bodyPr>
          <a:lstStyle/>
          <a:p>
            <a:pPr algn="ctr" marL="0" indent="0" lvl="0">
              <a:lnSpc>
                <a:spcPts val="5020"/>
              </a:lnSpc>
            </a:pPr>
            <a:r>
              <a:rPr lang="en-US" b="true" sz="4184" spc="-104">
                <a:solidFill>
                  <a:srgbClr val="F9FAFB"/>
                </a:solidFill>
                <a:latin typeface="Gatwick Ultra-Bold"/>
                <a:ea typeface="Gatwick Ultra-Bold"/>
                <a:cs typeface="Gatwick Ultra-Bold"/>
                <a:sym typeface="Gatwick Ultra-Bold"/>
              </a:rPr>
              <a:t>Java: Core Backend Programming Language</a:t>
            </a:r>
          </a:p>
        </p:txBody>
      </p:sp>
      <p:grpSp>
        <p:nvGrpSpPr>
          <p:cNvPr name="Group 6" id="6"/>
          <p:cNvGrpSpPr/>
          <p:nvPr/>
        </p:nvGrpSpPr>
        <p:grpSpPr>
          <a:xfrm rot="0">
            <a:off x="1800225" y="3352800"/>
            <a:ext cx="9572156" cy="5372100"/>
            <a:chOff x="0" y="0"/>
            <a:chExt cx="1347420" cy="756201"/>
          </a:xfrm>
        </p:grpSpPr>
        <p:sp>
          <p:nvSpPr>
            <p:cNvPr name="Freeform 7" id="7"/>
            <p:cNvSpPr/>
            <p:nvPr/>
          </p:nvSpPr>
          <p:spPr>
            <a:xfrm flipH="false" flipV="false" rot="0">
              <a:off x="0" y="0"/>
              <a:ext cx="1347420" cy="756201"/>
            </a:xfrm>
            <a:custGeom>
              <a:avLst/>
              <a:gdLst/>
              <a:ahLst/>
              <a:cxnLst/>
              <a:rect r="r" b="b" t="t" l="l"/>
              <a:pathLst>
                <a:path h="756201" w="1347420">
                  <a:moveTo>
                    <a:pt x="40440" y="0"/>
                  </a:moveTo>
                  <a:lnTo>
                    <a:pt x="1306980" y="0"/>
                  </a:lnTo>
                  <a:cubicBezTo>
                    <a:pt x="1317705" y="0"/>
                    <a:pt x="1327991" y="4261"/>
                    <a:pt x="1335575" y="11845"/>
                  </a:cubicBezTo>
                  <a:cubicBezTo>
                    <a:pt x="1343159" y="19428"/>
                    <a:pt x="1347420" y="29714"/>
                    <a:pt x="1347420" y="40440"/>
                  </a:cubicBezTo>
                  <a:lnTo>
                    <a:pt x="1347420" y="715761"/>
                  </a:lnTo>
                  <a:cubicBezTo>
                    <a:pt x="1347420" y="726487"/>
                    <a:pt x="1343159" y="736773"/>
                    <a:pt x="1335575" y="744357"/>
                  </a:cubicBezTo>
                  <a:cubicBezTo>
                    <a:pt x="1327991" y="751940"/>
                    <a:pt x="1317705" y="756201"/>
                    <a:pt x="1306980" y="756201"/>
                  </a:cubicBezTo>
                  <a:lnTo>
                    <a:pt x="40440" y="756201"/>
                  </a:lnTo>
                  <a:cubicBezTo>
                    <a:pt x="18106" y="756201"/>
                    <a:pt x="0" y="738095"/>
                    <a:pt x="0" y="715761"/>
                  </a:cubicBezTo>
                  <a:lnTo>
                    <a:pt x="0" y="40440"/>
                  </a:lnTo>
                  <a:cubicBezTo>
                    <a:pt x="0" y="29714"/>
                    <a:pt x="4261" y="19428"/>
                    <a:pt x="11845" y="11845"/>
                  </a:cubicBezTo>
                  <a:cubicBezTo>
                    <a:pt x="19428" y="4261"/>
                    <a:pt x="29714" y="0"/>
                    <a:pt x="40440" y="0"/>
                  </a:cubicBezTo>
                  <a:close/>
                </a:path>
              </a:pathLst>
            </a:custGeom>
            <a:blipFill>
              <a:blip r:embed="rId2"/>
              <a:stretch>
                <a:fillRect l="0" t="-7180" r="0" b="-7180"/>
              </a:stretch>
            </a:blipFill>
            <a:ln w="38100" cap="rnd">
              <a:solidFill>
                <a:srgbClr val="000000"/>
              </a:solidFill>
              <a:prstDash val="solid"/>
              <a:round/>
            </a:ln>
          </p:spPr>
        </p:sp>
      </p:grpSp>
      <p:grpSp>
        <p:nvGrpSpPr>
          <p:cNvPr name="Group 8" id="8"/>
          <p:cNvGrpSpPr/>
          <p:nvPr/>
        </p:nvGrpSpPr>
        <p:grpSpPr>
          <a:xfrm rot="0">
            <a:off x="12172950" y="3536315"/>
            <a:ext cx="4314825" cy="5005071"/>
            <a:chOff x="0" y="0"/>
            <a:chExt cx="5753100" cy="6673428"/>
          </a:xfrm>
        </p:grpSpPr>
        <p:sp>
          <p:nvSpPr>
            <p:cNvPr name="TextBox 9" id="9"/>
            <p:cNvSpPr txBox="true"/>
            <p:nvPr/>
          </p:nvSpPr>
          <p:spPr>
            <a:xfrm rot="0">
              <a:off x="0" y="2827444"/>
              <a:ext cx="5753100" cy="3845984"/>
            </a:xfrm>
            <a:prstGeom prst="rect">
              <a:avLst/>
            </a:prstGeom>
          </p:spPr>
          <p:txBody>
            <a:bodyPr anchor="t" rtlCol="false" tIns="0" lIns="0" bIns="0" rIns="0">
              <a:spAutoFit/>
            </a:bodyPr>
            <a:lstStyle/>
            <a:p>
              <a:pPr algn="ctr" marL="0" indent="0" lvl="0">
                <a:lnSpc>
                  <a:spcPts val="4549"/>
                </a:lnSpc>
              </a:pPr>
              <a:r>
                <a:rPr lang="en-US" sz="3499">
                  <a:solidFill>
                    <a:srgbClr val="D1D5DB"/>
                  </a:solidFill>
                  <a:latin typeface="Codec Pro"/>
                  <a:ea typeface="Codec Pro"/>
                  <a:cs typeface="Codec Pro"/>
                  <a:sym typeface="Codec Pro"/>
                </a:rPr>
                <a:t>Java powers critical business logic for seamless application functionality.</a:t>
              </a:r>
            </a:p>
          </p:txBody>
        </p:sp>
        <p:sp>
          <p:nvSpPr>
            <p:cNvPr name="TextBox 10" id="10"/>
            <p:cNvSpPr txBox="true"/>
            <p:nvPr/>
          </p:nvSpPr>
          <p:spPr>
            <a:xfrm rot="0">
              <a:off x="0" y="-114300"/>
              <a:ext cx="5753100" cy="2935394"/>
            </a:xfrm>
            <a:prstGeom prst="rect">
              <a:avLst/>
            </a:prstGeom>
          </p:spPr>
          <p:txBody>
            <a:bodyPr anchor="t" rtlCol="false" tIns="0" lIns="0" bIns="0" rIns="0">
              <a:spAutoFit/>
            </a:bodyPr>
            <a:lstStyle/>
            <a:p>
              <a:pPr algn="ctr" marL="0" indent="0" lvl="0">
                <a:lnSpc>
                  <a:spcPts val="5719"/>
                </a:lnSpc>
              </a:pPr>
              <a:r>
                <a:rPr lang="en-US" b="true" sz="4399">
                  <a:solidFill>
                    <a:srgbClr val="F9FAFB"/>
                  </a:solidFill>
                  <a:latin typeface="Codec Pro Ultra-Bold"/>
                  <a:ea typeface="Codec Pro Ultra-Bold"/>
                  <a:cs typeface="Codec Pro Ultra-Bold"/>
                  <a:sym typeface="Codec Pro Ultra-Bold"/>
                </a:rPr>
                <a:t>Backend Development Essentials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9CA3AF"/>
            </a:solidFill>
          </p:spPr>
        </p:sp>
      </p:grpSp>
      <p:sp>
        <p:nvSpPr>
          <p:cNvPr name="TextBox 5" id="5"/>
          <p:cNvSpPr txBox="true"/>
          <p:nvPr/>
        </p:nvSpPr>
        <p:spPr>
          <a:xfrm rot="0">
            <a:off x="2105025" y="1504950"/>
            <a:ext cx="14077950" cy="1314450"/>
          </a:xfrm>
          <a:prstGeom prst="rect">
            <a:avLst/>
          </a:prstGeom>
        </p:spPr>
        <p:txBody>
          <a:bodyPr anchor="t" rtlCol="false" tIns="0" lIns="0" bIns="0" rIns="0">
            <a:spAutoFit/>
          </a:bodyPr>
          <a:lstStyle/>
          <a:p>
            <a:pPr algn="ctr" marL="0" indent="0" lvl="0">
              <a:lnSpc>
                <a:spcPts val="5020"/>
              </a:lnSpc>
            </a:pPr>
            <a:r>
              <a:rPr lang="en-US" b="true" sz="4184" spc="-104">
                <a:solidFill>
                  <a:srgbClr val="F9FAFB"/>
                </a:solidFill>
                <a:latin typeface="Gatwick Ultra-Bold"/>
                <a:ea typeface="Gatwick Ultra-Bold"/>
                <a:cs typeface="Gatwick Ultra-Bold"/>
                <a:sym typeface="Gatwick Ultra-Bold"/>
              </a:rPr>
              <a:t>Understanding HTML for Web Development</a:t>
            </a:r>
          </a:p>
        </p:txBody>
      </p:sp>
      <p:grpSp>
        <p:nvGrpSpPr>
          <p:cNvPr name="Group 6" id="6"/>
          <p:cNvGrpSpPr/>
          <p:nvPr/>
        </p:nvGrpSpPr>
        <p:grpSpPr>
          <a:xfrm rot="0">
            <a:off x="1800225" y="3352800"/>
            <a:ext cx="9572156" cy="5372100"/>
            <a:chOff x="0" y="0"/>
            <a:chExt cx="1347420" cy="756201"/>
          </a:xfrm>
        </p:grpSpPr>
        <p:sp>
          <p:nvSpPr>
            <p:cNvPr name="Freeform 7" id="7"/>
            <p:cNvSpPr/>
            <p:nvPr/>
          </p:nvSpPr>
          <p:spPr>
            <a:xfrm flipH="false" flipV="false" rot="0">
              <a:off x="0" y="0"/>
              <a:ext cx="1347420" cy="756201"/>
            </a:xfrm>
            <a:custGeom>
              <a:avLst/>
              <a:gdLst/>
              <a:ahLst/>
              <a:cxnLst/>
              <a:rect r="r" b="b" t="t" l="l"/>
              <a:pathLst>
                <a:path h="756201" w="1347420">
                  <a:moveTo>
                    <a:pt x="40440" y="0"/>
                  </a:moveTo>
                  <a:lnTo>
                    <a:pt x="1306980" y="0"/>
                  </a:lnTo>
                  <a:cubicBezTo>
                    <a:pt x="1317705" y="0"/>
                    <a:pt x="1327991" y="4261"/>
                    <a:pt x="1335575" y="11845"/>
                  </a:cubicBezTo>
                  <a:cubicBezTo>
                    <a:pt x="1343159" y="19428"/>
                    <a:pt x="1347420" y="29714"/>
                    <a:pt x="1347420" y="40440"/>
                  </a:cubicBezTo>
                  <a:lnTo>
                    <a:pt x="1347420" y="715761"/>
                  </a:lnTo>
                  <a:cubicBezTo>
                    <a:pt x="1347420" y="726487"/>
                    <a:pt x="1343159" y="736773"/>
                    <a:pt x="1335575" y="744357"/>
                  </a:cubicBezTo>
                  <a:cubicBezTo>
                    <a:pt x="1327991" y="751940"/>
                    <a:pt x="1317705" y="756201"/>
                    <a:pt x="1306980" y="756201"/>
                  </a:cubicBezTo>
                  <a:lnTo>
                    <a:pt x="40440" y="756201"/>
                  </a:lnTo>
                  <a:cubicBezTo>
                    <a:pt x="18106" y="756201"/>
                    <a:pt x="0" y="738095"/>
                    <a:pt x="0" y="715761"/>
                  </a:cubicBezTo>
                  <a:lnTo>
                    <a:pt x="0" y="40440"/>
                  </a:lnTo>
                  <a:cubicBezTo>
                    <a:pt x="0" y="29714"/>
                    <a:pt x="4261" y="19428"/>
                    <a:pt x="11845" y="11845"/>
                  </a:cubicBezTo>
                  <a:cubicBezTo>
                    <a:pt x="19428" y="4261"/>
                    <a:pt x="29714" y="0"/>
                    <a:pt x="40440" y="0"/>
                  </a:cubicBezTo>
                  <a:close/>
                </a:path>
              </a:pathLst>
            </a:custGeom>
            <a:blipFill>
              <a:blip r:embed="rId2"/>
              <a:stretch>
                <a:fillRect l="-109" t="0" r="-109" b="0"/>
              </a:stretch>
            </a:blipFill>
            <a:ln w="38100" cap="rnd">
              <a:solidFill>
                <a:srgbClr val="000000"/>
              </a:solidFill>
              <a:prstDash val="solid"/>
              <a:round/>
            </a:ln>
          </p:spPr>
        </p:sp>
      </p:grpSp>
      <p:grpSp>
        <p:nvGrpSpPr>
          <p:cNvPr name="Group 8" id="8"/>
          <p:cNvGrpSpPr/>
          <p:nvPr/>
        </p:nvGrpSpPr>
        <p:grpSpPr>
          <a:xfrm rot="0">
            <a:off x="12172950" y="4250690"/>
            <a:ext cx="4314825" cy="3576321"/>
            <a:chOff x="0" y="0"/>
            <a:chExt cx="5753100" cy="4768428"/>
          </a:xfrm>
        </p:grpSpPr>
        <p:sp>
          <p:nvSpPr>
            <p:cNvPr name="TextBox 9" id="9"/>
            <p:cNvSpPr txBox="true"/>
            <p:nvPr/>
          </p:nvSpPr>
          <p:spPr>
            <a:xfrm rot="0">
              <a:off x="0" y="2052321"/>
              <a:ext cx="5753100" cy="2716107"/>
            </a:xfrm>
            <a:prstGeom prst="rect">
              <a:avLst/>
            </a:prstGeom>
          </p:spPr>
          <p:txBody>
            <a:bodyPr anchor="t" rtlCol="false" tIns="0" lIns="0" bIns="0" rIns="0">
              <a:spAutoFit/>
            </a:bodyPr>
            <a:lstStyle/>
            <a:p>
              <a:pPr algn="ctr" marL="0" indent="0" lvl="0">
                <a:lnSpc>
                  <a:spcPts val="4029"/>
                </a:lnSpc>
              </a:pPr>
              <a:r>
                <a:rPr lang="en-US" sz="3099">
                  <a:solidFill>
                    <a:srgbClr val="D1D5DB"/>
                  </a:solidFill>
                  <a:latin typeface="Codec Pro"/>
                  <a:ea typeface="Codec Pro"/>
                  <a:cs typeface="Codec Pro"/>
                  <a:sym typeface="Codec Pro"/>
                </a:rPr>
                <a:t>HTML is essential for creating and structuring web page content.</a:t>
              </a:r>
            </a:p>
          </p:txBody>
        </p:sp>
        <p:sp>
          <p:nvSpPr>
            <p:cNvPr name="TextBox 10" id="10"/>
            <p:cNvSpPr txBox="true"/>
            <p:nvPr/>
          </p:nvSpPr>
          <p:spPr>
            <a:xfrm rot="0">
              <a:off x="0" y="-123825"/>
              <a:ext cx="5753100" cy="2150746"/>
            </a:xfrm>
            <a:prstGeom prst="rect">
              <a:avLst/>
            </a:prstGeom>
          </p:spPr>
          <p:txBody>
            <a:bodyPr anchor="t" rtlCol="false" tIns="0" lIns="0" bIns="0" rIns="0">
              <a:spAutoFit/>
            </a:bodyPr>
            <a:lstStyle/>
            <a:p>
              <a:pPr algn="ctr" marL="0" indent="0" lvl="0">
                <a:lnSpc>
                  <a:spcPts val="6239"/>
                </a:lnSpc>
              </a:pPr>
              <a:r>
                <a:rPr lang="en-US" b="true" sz="4799">
                  <a:solidFill>
                    <a:srgbClr val="F9FAFB"/>
                  </a:solidFill>
                  <a:latin typeface="Codec Pro Ultra-Bold"/>
                  <a:ea typeface="Codec Pro Ultra-Bold"/>
                  <a:cs typeface="Codec Pro Ultra-Bold"/>
                  <a:sym typeface="Codec Pro Ultra-Bold"/>
                </a:rPr>
                <a:t>Introduction to HTML</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9CA3AF"/>
            </a:solidFill>
          </p:spPr>
        </p:sp>
      </p:grpSp>
      <p:sp>
        <p:nvSpPr>
          <p:cNvPr name="TextBox 5" id="5"/>
          <p:cNvSpPr txBox="true"/>
          <p:nvPr/>
        </p:nvSpPr>
        <p:spPr>
          <a:xfrm rot="0">
            <a:off x="2105025" y="1504950"/>
            <a:ext cx="14077950" cy="762000"/>
          </a:xfrm>
          <a:prstGeom prst="rect">
            <a:avLst/>
          </a:prstGeom>
        </p:spPr>
        <p:txBody>
          <a:bodyPr anchor="t" rtlCol="false" tIns="0" lIns="0" bIns="0" rIns="0">
            <a:spAutoFit/>
          </a:bodyPr>
          <a:lstStyle/>
          <a:p>
            <a:pPr algn="ctr" marL="0" indent="0" lvl="0">
              <a:lnSpc>
                <a:spcPts val="5561"/>
              </a:lnSpc>
            </a:pPr>
            <a:r>
              <a:rPr lang="en-US" b="true" sz="4634" spc="-115">
                <a:solidFill>
                  <a:srgbClr val="F9FAFB"/>
                </a:solidFill>
                <a:latin typeface="Gatwick Ultra-Bold"/>
                <a:ea typeface="Gatwick Ultra-Bold"/>
                <a:cs typeface="Gatwick Ultra-Bold"/>
                <a:sym typeface="Gatwick Ultra-Bold"/>
              </a:rPr>
              <a:t>CSS: Styling and Design Fundamentals</a:t>
            </a:r>
          </a:p>
        </p:txBody>
      </p:sp>
      <p:grpSp>
        <p:nvGrpSpPr>
          <p:cNvPr name="Group 6" id="6"/>
          <p:cNvGrpSpPr/>
          <p:nvPr/>
        </p:nvGrpSpPr>
        <p:grpSpPr>
          <a:xfrm rot="0">
            <a:off x="1800225" y="3352800"/>
            <a:ext cx="9572156" cy="5372100"/>
            <a:chOff x="0" y="0"/>
            <a:chExt cx="1347420" cy="756201"/>
          </a:xfrm>
        </p:grpSpPr>
        <p:sp>
          <p:nvSpPr>
            <p:cNvPr name="Freeform 7" id="7"/>
            <p:cNvSpPr/>
            <p:nvPr/>
          </p:nvSpPr>
          <p:spPr>
            <a:xfrm flipH="false" flipV="false" rot="0">
              <a:off x="0" y="0"/>
              <a:ext cx="1347420" cy="756201"/>
            </a:xfrm>
            <a:custGeom>
              <a:avLst/>
              <a:gdLst/>
              <a:ahLst/>
              <a:cxnLst/>
              <a:rect r="r" b="b" t="t" l="l"/>
              <a:pathLst>
                <a:path h="756201" w="1347420">
                  <a:moveTo>
                    <a:pt x="40440" y="0"/>
                  </a:moveTo>
                  <a:lnTo>
                    <a:pt x="1306980" y="0"/>
                  </a:lnTo>
                  <a:cubicBezTo>
                    <a:pt x="1317705" y="0"/>
                    <a:pt x="1327991" y="4261"/>
                    <a:pt x="1335575" y="11845"/>
                  </a:cubicBezTo>
                  <a:cubicBezTo>
                    <a:pt x="1343159" y="19428"/>
                    <a:pt x="1347420" y="29714"/>
                    <a:pt x="1347420" y="40440"/>
                  </a:cubicBezTo>
                  <a:lnTo>
                    <a:pt x="1347420" y="715761"/>
                  </a:lnTo>
                  <a:cubicBezTo>
                    <a:pt x="1347420" y="726487"/>
                    <a:pt x="1343159" y="736773"/>
                    <a:pt x="1335575" y="744357"/>
                  </a:cubicBezTo>
                  <a:cubicBezTo>
                    <a:pt x="1327991" y="751940"/>
                    <a:pt x="1317705" y="756201"/>
                    <a:pt x="1306980" y="756201"/>
                  </a:cubicBezTo>
                  <a:lnTo>
                    <a:pt x="40440" y="756201"/>
                  </a:lnTo>
                  <a:cubicBezTo>
                    <a:pt x="18106" y="756201"/>
                    <a:pt x="0" y="738095"/>
                    <a:pt x="0" y="715761"/>
                  </a:cubicBezTo>
                  <a:lnTo>
                    <a:pt x="0" y="40440"/>
                  </a:lnTo>
                  <a:cubicBezTo>
                    <a:pt x="0" y="29714"/>
                    <a:pt x="4261" y="19428"/>
                    <a:pt x="11845" y="11845"/>
                  </a:cubicBezTo>
                  <a:cubicBezTo>
                    <a:pt x="19428" y="4261"/>
                    <a:pt x="29714" y="0"/>
                    <a:pt x="40440" y="0"/>
                  </a:cubicBezTo>
                  <a:close/>
                </a:path>
              </a:pathLst>
            </a:custGeom>
            <a:blipFill>
              <a:blip r:embed="rId2"/>
              <a:stretch>
                <a:fillRect l="-109" t="0" r="-109" b="0"/>
              </a:stretch>
            </a:blipFill>
            <a:ln w="38100" cap="rnd">
              <a:solidFill>
                <a:srgbClr val="000000"/>
              </a:solidFill>
              <a:prstDash val="solid"/>
              <a:round/>
            </a:ln>
          </p:spPr>
        </p:sp>
      </p:grpSp>
      <p:grpSp>
        <p:nvGrpSpPr>
          <p:cNvPr name="Group 8" id="8"/>
          <p:cNvGrpSpPr/>
          <p:nvPr/>
        </p:nvGrpSpPr>
        <p:grpSpPr>
          <a:xfrm rot="0">
            <a:off x="12172950" y="4062412"/>
            <a:ext cx="4314825" cy="3952876"/>
            <a:chOff x="0" y="0"/>
            <a:chExt cx="5753100" cy="5270501"/>
          </a:xfrm>
        </p:grpSpPr>
        <p:sp>
          <p:nvSpPr>
            <p:cNvPr name="TextBox 9" id="9"/>
            <p:cNvSpPr txBox="true"/>
            <p:nvPr/>
          </p:nvSpPr>
          <p:spPr>
            <a:xfrm rot="0">
              <a:off x="0" y="1881294"/>
              <a:ext cx="5753100" cy="3389207"/>
            </a:xfrm>
            <a:prstGeom prst="rect">
              <a:avLst/>
            </a:prstGeom>
          </p:spPr>
          <p:txBody>
            <a:bodyPr anchor="t" rtlCol="false" tIns="0" lIns="0" bIns="0" rIns="0">
              <a:spAutoFit/>
            </a:bodyPr>
            <a:lstStyle/>
            <a:p>
              <a:pPr algn="ctr" marL="0" indent="0" lvl="0">
                <a:lnSpc>
                  <a:spcPts val="4029"/>
                </a:lnSpc>
              </a:pPr>
              <a:r>
                <a:rPr lang="en-US" sz="3099">
                  <a:solidFill>
                    <a:srgbClr val="D1D5DB"/>
                  </a:solidFill>
                  <a:latin typeface="Codec Pro"/>
                  <a:ea typeface="Codec Pro"/>
                  <a:cs typeface="Codec Pro"/>
                  <a:sym typeface="Codec Pro"/>
                </a:rPr>
                <a:t>CSS enhances the appearance of HTML content, creating visually appealing web pages.</a:t>
              </a:r>
            </a:p>
          </p:txBody>
        </p:sp>
        <p:sp>
          <p:nvSpPr>
            <p:cNvPr name="TextBox 10" id="10"/>
            <p:cNvSpPr txBox="true"/>
            <p:nvPr/>
          </p:nvSpPr>
          <p:spPr>
            <a:xfrm rot="0">
              <a:off x="0" y="-114300"/>
              <a:ext cx="5753100" cy="1970194"/>
            </a:xfrm>
            <a:prstGeom prst="rect">
              <a:avLst/>
            </a:prstGeom>
          </p:spPr>
          <p:txBody>
            <a:bodyPr anchor="t" rtlCol="false" tIns="0" lIns="0" bIns="0" rIns="0">
              <a:spAutoFit/>
            </a:bodyPr>
            <a:lstStyle/>
            <a:p>
              <a:pPr algn="ctr" marL="0" indent="0" lvl="0">
                <a:lnSpc>
                  <a:spcPts val="5719"/>
                </a:lnSpc>
              </a:pPr>
              <a:r>
                <a:rPr lang="en-US" b="true" sz="4399">
                  <a:solidFill>
                    <a:srgbClr val="F9FAFB"/>
                  </a:solidFill>
                  <a:latin typeface="Codec Pro Ultra-Bold"/>
                  <a:ea typeface="Codec Pro Ultra-Bold"/>
                  <a:cs typeface="Codec Pro Ultra-Bold"/>
                  <a:sym typeface="Codec Pro Ultra-Bold"/>
                </a:rPr>
                <a:t>Visual Design Elements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9CA3AF"/>
            </a:solidFill>
          </p:spPr>
        </p:sp>
      </p:grpSp>
      <p:sp>
        <p:nvSpPr>
          <p:cNvPr name="Freeform 5" id="5"/>
          <p:cNvSpPr/>
          <p:nvPr/>
        </p:nvSpPr>
        <p:spPr>
          <a:xfrm flipH="false" flipV="false" rot="0">
            <a:off x="1028700" y="3114923"/>
            <a:ext cx="9878928" cy="2630966"/>
          </a:xfrm>
          <a:custGeom>
            <a:avLst/>
            <a:gdLst/>
            <a:ahLst/>
            <a:cxnLst/>
            <a:rect r="r" b="b" t="t" l="l"/>
            <a:pathLst>
              <a:path h="2630966" w="9878928">
                <a:moveTo>
                  <a:pt x="0" y="0"/>
                </a:moveTo>
                <a:lnTo>
                  <a:pt x="9878928" y="0"/>
                </a:lnTo>
                <a:lnTo>
                  <a:pt x="9878928" y="2630965"/>
                </a:lnTo>
                <a:lnTo>
                  <a:pt x="0" y="2630965"/>
                </a:lnTo>
                <a:lnTo>
                  <a:pt x="0" y="0"/>
                </a:lnTo>
                <a:close/>
              </a:path>
            </a:pathLst>
          </a:custGeom>
          <a:blipFill>
            <a:blip r:embed="rId2"/>
            <a:stretch>
              <a:fillRect l="-1731" t="-207373" r="-1731" b="-46749"/>
            </a:stretch>
          </a:blipFill>
        </p:spPr>
      </p:sp>
      <p:sp>
        <p:nvSpPr>
          <p:cNvPr name="Freeform 6" id="6"/>
          <p:cNvSpPr/>
          <p:nvPr/>
        </p:nvSpPr>
        <p:spPr>
          <a:xfrm flipH="false" flipV="false" rot="0">
            <a:off x="1718699" y="6038850"/>
            <a:ext cx="8840503" cy="3022321"/>
          </a:xfrm>
          <a:custGeom>
            <a:avLst/>
            <a:gdLst/>
            <a:ahLst/>
            <a:cxnLst/>
            <a:rect r="r" b="b" t="t" l="l"/>
            <a:pathLst>
              <a:path h="3022321" w="8840503">
                <a:moveTo>
                  <a:pt x="0" y="0"/>
                </a:moveTo>
                <a:lnTo>
                  <a:pt x="8840502" y="0"/>
                </a:lnTo>
                <a:lnTo>
                  <a:pt x="8840502" y="3022321"/>
                </a:lnTo>
                <a:lnTo>
                  <a:pt x="0" y="3022321"/>
                </a:lnTo>
                <a:lnTo>
                  <a:pt x="0" y="0"/>
                </a:lnTo>
                <a:close/>
              </a:path>
            </a:pathLst>
          </a:custGeom>
          <a:blipFill>
            <a:blip r:embed="rId2"/>
            <a:stretch>
              <a:fillRect l="0" t="-144359" r="0" b="-22270"/>
            </a:stretch>
          </a:blipFill>
        </p:spPr>
      </p:sp>
      <p:sp>
        <p:nvSpPr>
          <p:cNvPr name="TextBox 7" id="7"/>
          <p:cNvSpPr txBox="true"/>
          <p:nvPr/>
        </p:nvSpPr>
        <p:spPr>
          <a:xfrm rot="0">
            <a:off x="2105025" y="1504950"/>
            <a:ext cx="14077950" cy="1314450"/>
          </a:xfrm>
          <a:prstGeom prst="rect">
            <a:avLst/>
          </a:prstGeom>
        </p:spPr>
        <p:txBody>
          <a:bodyPr anchor="t" rtlCol="false" tIns="0" lIns="0" bIns="0" rIns="0">
            <a:spAutoFit/>
          </a:bodyPr>
          <a:lstStyle/>
          <a:p>
            <a:pPr algn="ctr" marL="0" indent="0" lvl="0">
              <a:lnSpc>
                <a:spcPts val="5020"/>
              </a:lnSpc>
            </a:pPr>
            <a:r>
              <a:rPr lang="en-US" b="true" sz="4184" spc="-104">
                <a:solidFill>
                  <a:srgbClr val="F9FAFB"/>
                </a:solidFill>
                <a:latin typeface="Gatwick Ultra-Bold"/>
                <a:ea typeface="Gatwick Ultra-Bold"/>
                <a:cs typeface="Gatwick Ultra-Bold"/>
                <a:sym typeface="Gatwick Ultra-Bold"/>
              </a:rPr>
              <a:t>MySQL: Relational Database Management System Overview</a:t>
            </a:r>
          </a:p>
        </p:txBody>
      </p:sp>
      <p:grpSp>
        <p:nvGrpSpPr>
          <p:cNvPr name="Group 8" id="8"/>
          <p:cNvGrpSpPr/>
          <p:nvPr/>
        </p:nvGrpSpPr>
        <p:grpSpPr>
          <a:xfrm rot="0">
            <a:off x="12172950" y="3666490"/>
            <a:ext cx="4314825" cy="4744721"/>
            <a:chOff x="0" y="0"/>
            <a:chExt cx="5753100" cy="6326294"/>
          </a:xfrm>
        </p:grpSpPr>
        <p:sp>
          <p:nvSpPr>
            <p:cNvPr name="TextBox 9" id="9"/>
            <p:cNvSpPr txBox="true"/>
            <p:nvPr/>
          </p:nvSpPr>
          <p:spPr>
            <a:xfrm rot="0">
              <a:off x="0" y="2651549"/>
              <a:ext cx="5753100" cy="3674745"/>
            </a:xfrm>
            <a:prstGeom prst="rect">
              <a:avLst/>
            </a:prstGeom>
          </p:spPr>
          <p:txBody>
            <a:bodyPr anchor="t" rtlCol="false" tIns="0" lIns="0" bIns="0" rIns="0">
              <a:spAutoFit/>
            </a:bodyPr>
            <a:lstStyle/>
            <a:p>
              <a:pPr algn="ctr" marL="0" indent="0" lvl="0">
                <a:lnSpc>
                  <a:spcPts val="4289"/>
                </a:lnSpc>
              </a:pPr>
              <a:r>
                <a:rPr lang="en-US" sz="3299">
                  <a:solidFill>
                    <a:srgbClr val="D1D5DB"/>
                  </a:solidFill>
                  <a:latin typeface="Codec Pro"/>
                  <a:ea typeface="Codec Pro"/>
                  <a:cs typeface="Codec Pro"/>
                  <a:sym typeface="Codec Pro"/>
                </a:rPr>
                <a:t>MySQL enables </a:t>
              </a:r>
              <a:r>
                <a:rPr lang="en-US" b="true" sz="3299">
                  <a:solidFill>
                    <a:srgbClr val="D1D5DB"/>
                  </a:solidFill>
                  <a:latin typeface="Codec Pro Bold"/>
                  <a:ea typeface="Codec Pro Bold"/>
                  <a:cs typeface="Codec Pro Bold"/>
                  <a:sym typeface="Codec Pro Bold"/>
                </a:rPr>
                <a:t>efficient data storage</a:t>
              </a:r>
              <a:r>
                <a:rPr lang="en-US" sz="3299">
                  <a:solidFill>
                    <a:srgbClr val="D1D5DB"/>
                  </a:solidFill>
                  <a:latin typeface="Codec Pro"/>
                  <a:ea typeface="Codec Pro"/>
                  <a:cs typeface="Codec Pro"/>
                  <a:sym typeface="Codec Pro"/>
                </a:rPr>
                <a:t> and management for robust applications.</a:t>
              </a:r>
            </a:p>
          </p:txBody>
        </p:sp>
        <p:sp>
          <p:nvSpPr>
            <p:cNvPr name="TextBox 10" id="10"/>
            <p:cNvSpPr txBox="true"/>
            <p:nvPr/>
          </p:nvSpPr>
          <p:spPr>
            <a:xfrm rot="0">
              <a:off x="0" y="-95250"/>
              <a:ext cx="5753100" cy="2730924"/>
            </a:xfrm>
            <a:prstGeom prst="rect">
              <a:avLst/>
            </a:prstGeom>
          </p:spPr>
          <p:txBody>
            <a:bodyPr anchor="t" rtlCol="false" tIns="0" lIns="0" bIns="0" rIns="0">
              <a:spAutoFit/>
            </a:bodyPr>
            <a:lstStyle/>
            <a:p>
              <a:pPr algn="ctr" marL="0" indent="0" lvl="0">
                <a:lnSpc>
                  <a:spcPts val="5329"/>
                </a:lnSpc>
              </a:pPr>
              <a:r>
                <a:rPr lang="en-US" b="true" sz="4099">
                  <a:solidFill>
                    <a:srgbClr val="F9FAFB"/>
                  </a:solidFill>
                  <a:latin typeface="Codec Pro Ultra-Bold"/>
                  <a:ea typeface="Codec Pro Ultra-Bold"/>
                  <a:cs typeface="Codec Pro Ultra-Bold"/>
                  <a:sym typeface="Codec Pro Ultra-Bold"/>
                </a:rPr>
                <a:t>Database Management Essentials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9FAFB"/>
            </a:solidFill>
          </p:spPr>
        </p:sp>
      </p:grpSp>
      <p:sp>
        <p:nvSpPr>
          <p:cNvPr name="TextBox 5" id="5"/>
          <p:cNvSpPr txBox="true"/>
          <p:nvPr/>
        </p:nvSpPr>
        <p:spPr>
          <a:xfrm rot="0">
            <a:off x="2105025" y="1504950"/>
            <a:ext cx="14077950" cy="762000"/>
          </a:xfrm>
          <a:prstGeom prst="rect">
            <a:avLst/>
          </a:prstGeom>
        </p:spPr>
        <p:txBody>
          <a:bodyPr anchor="t" rtlCol="false" tIns="0" lIns="0" bIns="0" rIns="0">
            <a:spAutoFit/>
          </a:bodyPr>
          <a:lstStyle/>
          <a:p>
            <a:pPr algn="ctr" marL="0" indent="0" lvl="0">
              <a:lnSpc>
                <a:spcPts val="5561"/>
              </a:lnSpc>
            </a:pPr>
            <a:r>
              <a:rPr lang="en-US" b="true" sz="4634" spc="-115">
                <a:solidFill>
                  <a:srgbClr val="F9FAFB"/>
                </a:solidFill>
                <a:latin typeface="Gatwick Ultra-Bold"/>
                <a:ea typeface="Gatwick Ultra-Bold"/>
                <a:cs typeface="Gatwick Ultra-Bold"/>
                <a:sym typeface="Gatwick Ultra-Bold"/>
              </a:rPr>
              <a:t>GitHub: Essential Tool for Collaboration</a:t>
            </a:r>
          </a:p>
        </p:txBody>
      </p:sp>
      <p:grpSp>
        <p:nvGrpSpPr>
          <p:cNvPr name="Group 6" id="6"/>
          <p:cNvGrpSpPr/>
          <p:nvPr/>
        </p:nvGrpSpPr>
        <p:grpSpPr>
          <a:xfrm rot="0">
            <a:off x="1520685" y="3352800"/>
            <a:ext cx="9572156" cy="5372100"/>
            <a:chOff x="0" y="0"/>
            <a:chExt cx="1347420" cy="756201"/>
          </a:xfrm>
        </p:grpSpPr>
        <p:sp>
          <p:nvSpPr>
            <p:cNvPr name="Freeform 7" id="7"/>
            <p:cNvSpPr/>
            <p:nvPr/>
          </p:nvSpPr>
          <p:spPr>
            <a:xfrm flipH="false" flipV="false" rot="0">
              <a:off x="0" y="0"/>
              <a:ext cx="1347420" cy="756201"/>
            </a:xfrm>
            <a:custGeom>
              <a:avLst/>
              <a:gdLst/>
              <a:ahLst/>
              <a:cxnLst/>
              <a:rect r="r" b="b" t="t" l="l"/>
              <a:pathLst>
                <a:path h="756201" w="1347420">
                  <a:moveTo>
                    <a:pt x="40440" y="0"/>
                  </a:moveTo>
                  <a:lnTo>
                    <a:pt x="1306980" y="0"/>
                  </a:lnTo>
                  <a:cubicBezTo>
                    <a:pt x="1317705" y="0"/>
                    <a:pt x="1327991" y="4261"/>
                    <a:pt x="1335575" y="11845"/>
                  </a:cubicBezTo>
                  <a:cubicBezTo>
                    <a:pt x="1343159" y="19428"/>
                    <a:pt x="1347420" y="29714"/>
                    <a:pt x="1347420" y="40440"/>
                  </a:cubicBezTo>
                  <a:lnTo>
                    <a:pt x="1347420" y="715761"/>
                  </a:lnTo>
                  <a:cubicBezTo>
                    <a:pt x="1347420" y="726487"/>
                    <a:pt x="1343159" y="736773"/>
                    <a:pt x="1335575" y="744357"/>
                  </a:cubicBezTo>
                  <a:cubicBezTo>
                    <a:pt x="1327991" y="751940"/>
                    <a:pt x="1317705" y="756201"/>
                    <a:pt x="1306980" y="756201"/>
                  </a:cubicBezTo>
                  <a:lnTo>
                    <a:pt x="40440" y="756201"/>
                  </a:lnTo>
                  <a:cubicBezTo>
                    <a:pt x="18106" y="756201"/>
                    <a:pt x="0" y="738095"/>
                    <a:pt x="0" y="715761"/>
                  </a:cubicBezTo>
                  <a:lnTo>
                    <a:pt x="0" y="40440"/>
                  </a:lnTo>
                  <a:cubicBezTo>
                    <a:pt x="0" y="29714"/>
                    <a:pt x="4261" y="19428"/>
                    <a:pt x="11845" y="11845"/>
                  </a:cubicBezTo>
                  <a:cubicBezTo>
                    <a:pt x="19428" y="4261"/>
                    <a:pt x="29714" y="0"/>
                    <a:pt x="40440" y="0"/>
                  </a:cubicBezTo>
                  <a:close/>
                </a:path>
              </a:pathLst>
            </a:custGeom>
            <a:blipFill>
              <a:blip r:embed="rId2"/>
              <a:stretch>
                <a:fillRect l="-109" t="0" r="-109" b="0"/>
              </a:stretch>
            </a:blipFill>
            <a:ln w="38100" cap="rnd">
              <a:solidFill>
                <a:srgbClr val="000000"/>
              </a:solidFill>
              <a:prstDash val="solid"/>
              <a:round/>
            </a:ln>
          </p:spPr>
        </p:sp>
      </p:grpSp>
      <p:grpSp>
        <p:nvGrpSpPr>
          <p:cNvPr name="Group 8" id="8"/>
          <p:cNvGrpSpPr/>
          <p:nvPr/>
        </p:nvGrpSpPr>
        <p:grpSpPr>
          <a:xfrm rot="0">
            <a:off x="12172950" y="3753485"/>
            <a:ext cx="4314825" cy="4570731"/>
            <a:chOff x="0" y="0"/>
            <a:chExt cx="5753100" cy="6094308"/>
          </a:xfrm>
        </p:grpSpPr>
        <p:sp>
          <p:nvSpPr>
            <p:cNvPr name="TextBox 9" id="9"/>
            <p:cNvSpPr txBox="true"/>
            <p:nvPr/>
          </p:nvSpPr>
          <p:spPr>
            <a:xfrm rot="0">
              <a:off x="0" y="1871769"/>
              <a:ext cx="5753100" cy="4222539"/>
            </a:xfrm>
            <a:prstGeom prst="rect">
              <a:avLst/>
            </a:prstGeom>
          </p:spPr>
          <p:txBody>
            <a:bodyPr anchor="t" rtlCol="false" tIns="0" lIns="0" bIns="0" rIns="0">
              <a:spAutoFit/>
            </a:bodyPr>
            <a:lstStyle/>
            <a:p>
              <a:pPr algn="ctr" marL="0" indent="0" lvl="0">
                <a:lnSpc>
                  <a:spcPts val="4159"/>
                </a:lnSpc>
              </a:pPr>
              <a:r>
                <a:rPr lang="en-US" sz="3199">
                  <a:solidFill>
                    <a:srgbClr val="D1D5DB"/>
                  </a:solidFill>
                  <a:latin typeface="Codec Pro"/>
                  <a:ea typeface="Codec Pro"/>
                  <a:cs typeface="Codec Pro"/>
                  <a:sym typeface="Codec Pro"/>
                </a:rPr>
                <a:t>GitHub enables </a:t>
              </a:r>
              <a:r>
                <a:rPr lang="en-US" b="true" sz="3199">
                  <a:solidFill>
                    <a:srgbClr val="D1D5DB"/>
                  </a:solidFill>
                  <a:latin typeface="Codec Pro Bold"/>
                  <a:ea typeface="Codec Pro Bold"/>
                  <a:cs typeface="Codec Pro Bold"/>
                  <a:sym typeface="Codec Pro Bold"/>
                </a:rPr>
                <a:t>efficient collaboration</a:t>
              </a:r>
              <a:r>
                <a:rPr lang="en-US" sz="3199">
                  <a:solidFill>
                    <a:srgbClr val="D1D5DB"/>
                  </a:solidFill>
                  <a:latin typeface="Codec Pro"/>
                  <a:ea typeface="Codec Pro"/>
                  <a:cs typeface="Codec Pro"/>
                  <a:sym typeface="Codec Pro"/>
                </a:rPr>
                <a:t> and version control for software development teams.</a:t>
              </a:r>
            </a:p>
          </p:txBody>
        </p:sp>
        <p:sp>
          <p:nvSpPr>
            <p:cNvPr name="TextBox 10" id="10"/>
            <p:cNvSpPr txBox="true"/>
            <p:nvPr/>
          </p:nvSpPr>
          <p:spPr>
            <a:xfrm rot="0">
              <a:off x="0" y="-114300"/>
              <a:ext cx="5753100" cy="1970194"/>
            </a:xfrm>
            <a:prstGeom prst="rect">
              <a:avLst/>
            </a:prstGeom>
          </p:spPr>
          <p:txBody>
            <a:bodyPr anchor="t" rtlCol="false" tIns="0" lIns="0" bIns="0" rIns="0">
              <a:spAutoFit/>
            </a:bodyPr>
            <a:lstStyle/>
            <a:p>
              <a:pPr algn="ctr" marL="0" indent="0" lvl="0">
                <a:lnSpc>
                  <a:spcPts val="5719"/>
                </a:lnSpc>
              </a:pPr>
              <a:r>
                <a:rPr lang="en-US" b="true" sz="4399">
                  <a:solidFill>
                    <a:srgbClr val="F9FAFB"/>
                  </a:solidFill>
                  <a:latin typeface="Codec Pro Ultra-Bold"/>
                  <a:ea typeface="Codec Pro Ultra-Bold"/>
                  <a:cs typeface="Codec Pro Ultra-Bold"/>
                  <a:sym typeface="Codec Pro Ultra-Bold"/>
                </a:rPr>
                <a:t>Version Control Overview</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534459" y="399962"/>
            <a:ext cx="17459694" cy="9220288"/>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9FAFB"/>
            </a:solidFill>
          </p:spPr>
        </p:sp>
      </p:grpSp>
      <p:grpSp>
        <p:nvGrpSpPr>
          <p:cNvPr name="Group 5" id="5"/>
          <p:cNvGrpSpPr/>
          <p:nvPr/>
        </p:nvGrpSpPr>
        <p:grpSpPr>
          <a:xfrm rot="0">
            <a:off x="7299271" y="814674"/>
            <a:ext cx="10193612" cy="7638017"/>
            <a:chOff x="0" y="0"/>
            <a:chExt cx="2684737" cy="2011659"/>
          </a:xfrm>
        </p:grpSpPr>
        <p:sp>
          <p:nvSpPr>
            <p:cNvPr name="Freeform 6" id="6"/>
            <p:cNvSpPr/>
            <p:nvPr/>
          </p:nvSpPr>
          <p:spPr>
            <a:xfrm flipH="false" flipV="false" rot="0">
              <a:off x="0" y="0"/>
              <a:ext cx="2684737" cy="2011659"/>
            </a:xfrm>
            <a:custGeom>
              <a:avLst/>
              <a:gdLst/>
              <a:ahLst/>
              <a:cxnLst/>
              <a:rect r="r" b="b" t="t" l="l"/>
              <a:pathLst>
                <a:path h="2011659" w="2684737">
                  <a:moveTo>
                    <a:pt x="37974" y="0"/>
                  </a:moveTo>
                  <a:lnTo>
                    <a:pt x="2646763" y="0"/>
                  </a:lnTo>
                  <a:cubicBezTo>
                    <a:pt x="2667736" y="0"/>
                    <a:pt x="2684737" y="17002"/>
                    <a:pt x="2684737" y="37974"/>
                  </a:cubicBezTo>
                  <a:lnTo>
                    <a:pt x="2684737" y="1973684"/>
                  </a:lnTo>
                  <a:cubicBezTo>
                    <a:pt x="2684737" y="1983756"/>
                    <a:pt x="2680736" y="1993415"/>
                    <a:pt x="2673615" y="2000536"/>
                  </a:cubicBezTo>
                  <a:cubicBezTo>
                    <a:pt x="2666493" y="2007658"/>
                    <a:pt x="2656834" y="2011659"/>
                    <a:pt x="2646763" y="2011659"/>
                  </a:cubicBezTo>
                  <a:lnTo>
                    <a:pt x="37974" y="2011659"/>
                  </a:lnTo>
                  <a:cubicBezTo>
                    <a:pt x="17002" y="2011659"/>
                    <a:pt x="0" y="1994657"/>
                    <a:pt x="0" y="1973684"/>
                  </a:cubicBezTo>
                  <a:lnTo>
                    <a:pt x="0" y="37974"/>
                  </a:lnTo>
                  <a:cubicBezTo>
                    <a:pt x="0" y="17002"/>
                    <a:pt x="17002" y="0"/>
                    <a:pt x="37974"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2684737" cy="2078334"/>
            </a:xfrm>
            <a:prstGeom prst="rect">
              <a:avLst/>
            </a:prstGeom>
          </p:spPr>
          <p:txBody>
            <a:bodyPr anchor="ctr" rtlCol="false" tIns="127000" lIns="127000" bIns="127000" rIns="127000"/>
            <a:lstStyle/>
            <a:p>
              <a:pPr algn="ctr" marL="0" indent="0" lvl="0">
                <a:lnSpc>
                  <a:spcPts val="3120"/>
                </a:lnSpc>
              </a:pPr>
            </a:p>
          </p:txBody>
        </p:sp>
      </p:grpSp>
      <p:sp>
        <p:nvSpPr>
          <p:cNvPr name="Freeform 8" id="8"/>
          <p:cNvSpPr/>
          <p:nvPr/>
        </p:nvSpPr>
        <p:spPr>
          <a:xfrm flipH="false" flipV="false" rot="0">
            <a:off x="750190" y="1774334"/>
            <a:ext cx="6158960" cy="6193914"/>
          </a:xfrm>
          <a:custGeom>
            <a:avLst/>
            <a:gdLst/>
            <a:ahLst/>
            <a:cxnLst/>
            <a:rect r="r" b="b" t="t" l="l"/>
            <a:pathLst>
              <a:path h="6193914" w="6158960">
                <a:moveTo>
                  <a:pt x="0" y="0"/>
                </a:moveTo>
                <a:lnTo>
                  <a:pt x="6158960" y="0"/>
                </a:lnTo>
                <a:lnTo>
                  <a:pt x="6158960" y="6193914"/>
                </a:lnTo>
                <a:lnTo>
                  <a:pt x="0" y="6193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824658" y="3175841"/>
            <a:ext cx="4010025" cy="3333750"/>
          </a:xfrm>
          <a:prstGeom prst="rect">
            <a:avLst/>
          </a:prstGeom>
        </p:spPr>
        <p:txBody>
          <a:bodyPr anchor="t" rtlCol="false" tIns="0" lIns="0" bIns="0" rIns="0">
            <a:spAutoFit/>
          </a:bodyPr>
          <a:lstStyle/>
          <a:p>
            <a:pPr algn="ctr" marL="0" indent="0" lvl="0">
              <a:lnSpc>
                <a:spcPts val="6480"/>
              </a:lnSpc>
            </a:pPr>
            <a:r>
              <a:rPr lang="en-US" b="true" sz="5400" spc="-135">
                <a:solidFill>
                  <a:srgbClr val="000000"/>
                </a:solidFill>
                <a:latin typeface="Gatwick Ultra-Bold"/>
                <a:ea typeface="Gatwick Ultra-Bold"/>
                <a:cs typeface="Gatwick Ultra-Bold"/>
                <a:sym typeface="Gatwick Ultra-Bold"/>
              </a:rPr>
              <a:t>Gaming Club Admin Workflow</a:t>
            </a:r>
          </a:p>
        </p:txBody>
      </p:sp>
      <p:sp>
        <p:nvSpPr>
          <p:cNvPr name="TextBox 10" id="10"/>
          <p:cNvSpPr txBox="true"/>
          <p:nvPr/>
        </p:nvSpPr>
        <p:spPr>
          <a:xfrm rot="0">
            <a:off x="8250940" y="1507577"/>
            <a:ext cx="8290275" cy="6176010"/>
          </a:xfrm>
          <a:prstGeom prst="rect">
            <a:avLst/>
          </a:prstGeom>
        </p:spPr>
        <p:txBody>
          <a:bodyPr anchor="t" rtlCol="false" tIns="0" lIns="0" bIns="0" rIns="0">
            <a:spAutoFit/>
          </a:bodyPr>
          <a:lstStyle/>
          <a:p>
            <a:pPr algn="ctr" marL="0" indent="0" lvl="0">
              <a:lnSpc>
                <a:spcPts val="3509"/>
              </a:lnSpc>
            </a:pPr>
            <a:r>
              <a:rPr lang="en-US" sz="2699">
                <a:solidFill>
                  <a:srgbClr val="F9FAFB"/>
                </a:solidFill>
                <a:latin typeface="Codec Pro"/>
                <a:ea typeface="Codec Pro"/>
                <a:cs typeface="Codec Pro"/>
                <a:sym typeface="Codec Pro"/>
              </a:rPr>
              <a:t>The </a:t>
            </a:r>
            <a:r>
              <a:rPr lang="en-US" b="true" sz="2699">
                <a:solidFill>
                  <a:srgbClr val="F9FAFB"/>
                </a:solidFill>
                <a:latin typeface="Codec Pro Bold"/>
                <a:ea typeface="Codec Pro Bold"/>
                <a:cs typeface="Codec Pro Bold"/>
                <a:sym typeface="Codec Pro Bold"/>
              </a:rPr>
              <a:t>Employee Management System</a:t>
            </a:r>
            <a:r>
              <a:rPr lang="en-US" sz="2699">
                <a:solidFill>
                  <a:srgbClr val="F9FAFB"/>
                </a:solidFill>
                <a:latin typeface="Codec Pro"/>
                <a:ea typeface="Codec Pro"/>
                <a:cs typeface="Codec Pro"/>
                <a:sym typeface="Codec Pro"/>
              </a:rPr>
              <a:t> for the Gaming Club Admin is designed to facilitate smooth operations in managing club members, games, transactions, and daily collections. This project integrates various technologies: the frontend utilizes HTML and CSS for a user-friendly interface, while the backend is powered by Java, interacting with MySQL for data storage. Postman is employed for API testing to ensure seamless communication between the frontend and backend. GitHub plays a crucial role in managing version control and collaborative efforts among developers, ensuring a cohesive workflow across the project.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359257" y="304800"/>
            <a:ext cx="17569487" cy="8953500"/>
            <a:chOff x="0" y="0"/>
            <a:chExt cx="5942091" cy="3028120"/>
          </a:xfrm>
        </p:grpSpPr>
        <p:sp>
          <p:nvSpPr>
            <p:cNvPr name="Freeform 3" id="3"/>
            <p:cNvSpPr/>
            <p:nvPr/>
          </p:nvSpPr>
          <p:spPr>
            <a:xfrm flipH="false" flipV="false" rot="0">
              <a:off x="12700" y="12700"/>
              <a:ext cx="5877321" cy="2959540"/>
            </a:xfrm>
            <a:custGeom>
              <a:avLst/>
              <a:gdLst/>
              <a:ahLst/>
              <a:cxnLst/>
              <a:rect r="r" b="b" t="t" l="l"/>
              <a:pathLst>
                <a:path h="2959540" w="5877321">
                  <a:moveTo>
                    <a:pt x="146050" y="2959540"/>
                  </a:moveTo>
                  <a:lnTo>
                    <a:pt x="5731271" y="2959540"/>
                  </a:lnTo>
                  <a:cubicBezTo>
                    <a:pt x="5811281" y="2959540"/>
                    <a:pt x="5877321" y="2893500"/>
                    <a:pt x="5877321" y="2813490"/>
                  </a:cubicBezTo>
                  <a:lnTo>
                    <a:pt x="5877321" y="146050"/>
                  </a:lnTo>
                  <a:cubicBezTo>
                    <a:pt x="5877321" y="66040"/>
                    <a:pt x="5811281" y="0"/>
                    <a:pt x="5731271"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942091" cy="3028120"/>
            </a:xfrm>
            <a:custGeom>
              <a:avLst/>
              <a:gdLst/>
              <a:ahLst/>
              <a:cxnLst/>
              <a:rect r="r" b="b" t="t" l="l"/>
              <a:pathLst>
                <a:path h="3028120" w="5942091">
                  <a:moveTo>
                    <a:pt x="5878591" y="74930"/>
                  </a:moveTo>
                  <a:cubicBezTo>
                    <a:pt x="5850651" y="30480"/>
                    <a:pt x="5801121" y="0"/>
                    <a:pt x="5743971" y="0"/>
                  </a:cubicBezTo>
                  <a:lnTo>
                    <a:pt x="158750" y="0"/>
                  </a:lnTo>
                  <a:cubicBezTo>
                    <a:pt x="71120" y="0"/>
                    <a:pt x="0" y="71120"/>
                    <a:pt x="0" y="158750"/>
                  </a:cubicBezTo>
                  <a:lnTo>
                    <a:pt x="0" y="2826190"/>
                  </a:lnTo>
                  <a:cubicBezTo>
                    <a:pt x="0" y="2878260"/>
                    <a:pt x="25400" y="2923980"/>
                    <a:pt x="63500" y="2953190"/>
                  </a:cubicBezTo>
                  <a:cubicBezTo>
                    <a:pt x="91440" y="2997640"/>
                    <a:pt x="140970" y="3028120"/>
                    <a:pt x="217883" y="3028120"/>
                  </a:cubicBezTo>
                  <a:lnTo>
                    <a:pt x="5783341" y="3028120"/>
                  </a:lnTo>
                  <a:cubicBezTo>
                    <a:pt x="5870971" y="3028120"/>
                    <a:pt x="5942091" y="2957000"/>
                    <a:pt x="5942091" y="2869370"/>
                  </a:cubicBezTo>
                  <a:lnTo>
                    <a:pt x="5942091" y="208926"/>
                  </a:lnTo>
                  <a:cubicBezTo>
                    <a:pt x="5942090" y="149860"/>
                    <a:pt x="5916690" y="104140"/>
                    <a:pt x="5878591" y="74930"/>
                  </a:cubicBezTo>
                  <a:close/>
                  <a:moveTo>
                    <a:pt x="12700" y="2826190"/>
                  </a:moveTo>
                  <a:lnTo>
                    <a:pt x="12700" y="158750"/>
                  </a:lnTo>
                  <a:cubicBezTo>
                    <a:pt x="12700" y="78740"/>
                    <a:pt x="78740" y="12700"/>
                    <a:pt x="158750" y="12700"/>
                  </a:cubicBezTo>
                  <a:lnTo>
                    <a:pt x="5743971" y="12700"/>
                  </a:lnTo>
                  <a:cubicBezTo>
                    <a:pt x="5823981" y="12700"/>
                    <a:pt x="5890021" y="78740"/>
                    <a:pt x="5890021" y="158750"/>
                  </a:cubicBezTo>
                  <a:lnTo>
                    <a:pt x="5890021" y="2826190"/>
                  </a:lnTo>
                  <a:cubicBezTo>
                    <a:pt x="5890021" y="2906200"/>
                    <a:pt x="5823981" y="2972240"/>
                    <a:pt x="5743971" y="2972240"/>
                  </a:cubicBezTo>
                  <a:lnTo>
                    <a:pt x="158750" y="2972240"/>
                  </a:lnTo>
                  <a:cubicBezTo>
                    <a:pt x="78740" y="2972240"/>
                    <a:pt x="12700" y="2907470"/>
                    <a:pt x="12700" y="2826190"/>
                  </a:cubicBezTo>
                  <a:close/>
                </a:path>
              </a:pathLst>
            </a:custGeom>
            <a:solidFill>
              <a:srgbClr val="9CA3AF"/>
            </a:solidFill>
          </p:spPr>
        </p:sp>
      </p:grpSp>
      <p:grpSp>
        <p:nvGrpSpPr>
          <p:cNvPr name="Group 5" id="5"/>
          <p:cNvGrpSpPr/>
          <p:nvPr/>
        </p:nvGrpSpPr>
        <p:grpSpPr>
          <a:xfrm rot="0">
            <a:off x="1236174" y="3156353"/>
            <a:ext cx="4619625" cy="3231344"/>
            <a:chOff x="0" y="0"/>
            <a:chExt cx="650279" cy="454859"/>
          </a:xfrm>
        </p:grpSpPr>
        <p:sp>
          <p:nvSpPr>
            <p:cNvPr name="Freeform 6" id="6"/>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2"/>
              <a:stretch>
                <a:fillRect l="-14075" t="0" r="-13386" b="-10249"/>
              </a:stretch>
            </a:blipFill>
            <a:ln w="38100" cap="rnd">
              <a:solidFill>
                <a:srgbClr val="000000"/>
              </a:solidFill>
              <a:prstDash val="solid"/>
              <a:round/>
            </a:ln>
          </p:spPr>
        </p:sp>
      </p:grpSp>
      <p:grpSp>
        <p:nvGrpSpPr>
          <p:cNvPr name="Group 7" id="7"/>
          <p:cNvGrpSpPr/>
          <p:nvPr/>
        </p:nvGrpSpPr>
        <p:grpSpPr>
          <a:xfrm rot="0">
            <a:off x="6834188" y="3156353"/>
            <a:ext cx="4619625" cy="3231344"/>
            <a:chOff x="0" y="0"/>
            <a:chExt cx="650279" cy="454859"/>
          </a:xfrm>
        </p:grpSpPr>
        <p:sp>
          <p:nvSpPr>
            <p:cNvPr name="Freeform 8" id="8"/>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3"/>
              <a:stretch>
                <a:fillRect l="-3708" t="0" r="-13049" b="-10599"/>
              </a:stretch>
            </a:blipFill>
            <a:ln w="38100" cap="rnd">
              <a:solidFill>
                <a:srgbClr val="000000"/>
              </a:solidFill>
              <a:prstDash val="solid"/>
              <a:round/>
            </a:ln>
          </p:spPr>
        </p:sp>
      </p:grpSp>
      <p:grpSp>
        <p:nvGrpSpPr>
          <p:cNvPr name="Group 9" id="9"/>
          <p:cNvGrpSpPr/>
          <p:nvPr/>
        </p:nvGrpSpPr>
        <p:grpSpPr>
          <a:xfrm rot="0">
            <a:off x="12636237" y="3156353"/>
            <a:ext cx="4623063" cy="3231344"/>
            <a:chOff x="0" y="0"/>
            <a:chExt cx="650763" cy="454859"/>
          </a:xfrm>
        </p:grpSpPr>
        <p:sp>
          <p:nvSpPr>
            <p:cNvPr name="Freeform 10" id="10"/>
            <p:cNvSpPr/>
            <p:nvPr/>
          </p:nvSpPr>
          <p:spPr>
            <a:xfrm flipH="false" flipV="false" rot="0">
              <a:off x="0" y="0"/>
              <a:ext cx="650763" cy="454859"/>
            </a:xfrm>
            <a:custGeom>
              <a:avLst/>
              <a:gdLst/>
              <a:ahLst/>
              <a:cxnLst/>
              <a:rect r="r" b="b" t="t" l="l"/>
              <a:pathLst>
                <a:path h="454859" w="650763">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4"/>
              <a:stretch>
                <a:fillRect l="-4036" t="-9872" r="0" b="-12060"/>
              </a:stretch>
            </a:blipFill>
            <a:ln w="38100" cap="rnd">
              <a:solidFill>
                <a:srgbClr val="000000"/>
              </a:solidFill>
              <a:prstDash val="solid"/>
              <a:round/>
            </a:ln>
          </p:spPr>
        </p:sp>
      </p:grpSp>
      <p:grpSp>
        <p:nvGrpSpPr>
          <p:cNvPr name="Group 11" id="11"/>
          <p:cNvGrpSpPr/>
          <p:nvPr/>
        </p:nvGrpSpPr>
        <p:grpSpPr>
          <a:xfrm rot="0">
            <a:off x="1094381" y="7130415"/>
            <a:ext cx="4619625" cy="1390650"/>
            <a:chOff x="0" y="0"/>
            <a:chExt cx="6159500" cy="1854201"/>
          </a:xfrm>
        </p:grpSpPr>
        <p:sp>
          <p:nvSpPr>
            <p:cNvPr name="TextBox 12" id="12"/>
            <p:cNvSpPr txBox="true"/>
            <p:nvPr/>
          </p:nvSpPr>
          <p:spPr>
            <a:xfrm rot="0">
              <a:off x="0" y="737659"/>
              <a:ext cx="6159500" cy="1116542"/>
            </a:xfrm>
            <a:prstGeom prst="rect">
              <a:avLst/>
            </a:prstGeom>
          </p:spPr>
          <p:txBody>
            <a:bodyPr anchor="t" rtlCol="false" tIns="0" lIns="0" bIns="0" rIns="0">
              <a:spAutoFit/>
            </a:bodyPr>
            <a:lstStyle/>
            <a:p>
              <a:pPr algn="ctr" marL="0" indent="0" lvl="0">
                <a:lnSpc>
                  <a:spcPts val="3249"/>
                </a:lnSpc>
              </a:pPr>
              <a:r>
                <a:rPr lang="en-US" sz="2499">
                  <a:solidFill>
                    <a:srgbClr val="D1D5DB"/>
                  </a:solidFill>
                  <a:latin typeface="Codec Pro"/>
                  <a:ea typeface="Codec Pro"/>
                  <a:cs typeface="Codec Pro"/>
                  <a:sym typeface="Codec Pro"/>
                </a:rPr>
                <a:t>Manage and view all club member details.</a:t>
              </a:r>
            </a:p>
          </p:txBody>
        </p:sp>
        <p:sp>
          <p:nvSpPr>
            <p:cNvPr name="TextBox 13" id="13"/>
            <p:cNvSpPr txBox="true"/>
            <p:nvPr/>
          </p:nvSpPr>
          <p:spPr>
            <a:xfrm rot="0">
              <a:off x="0" y="-95250"/>
              <a:ext cx="6159500" cy="797984"/>
            </a:xfrm>
            <a:prstGeom prst="rect">
              <a:avLst/>
            </a:prstGeom>
          </p:spPr>
          <p:txBody>
            <a:bodyPr anchor="t" rtlCol="false" tIns="0" lIns="0" bIns="0" rIns="0">
              <a:spAutoFit/>
            </a:bodyPr>
            <a:lstStyle/>
            <a:p>
              <a:pPr algn="ctr" marL="0" indent="0" lvl="0">
                <a:lnSpc>
                  <a:spcPts val="4549"/>
                </a:lnSpc>
              </a:pPr>
              <a:r>
                <a:rPr lang="en-US" b="true" sz="3499">
                  <a:solidFill>
                    <a:srgbClr val="F9FAFB"/>
                  </a:solidFill>
                  <a:latin typeface="Codec Pro Ultra-Bold"/>
                  <a:ea typeface="Codec Pro Ultra-Bold"/>
                  <a:cs typeface="Codec Pro Ultra-Bold"/>
                  <a:sym typeface="Codec Pro Ultra-Bold"/>
                </a:rPr>
                <a:t>Members Page</a:t>
              </a:r>
            </a:p>
          </p:txBody>
        </p:sp>
      </p:grpSp>
      <p:sp>
        <p:nvSpPr>
          <p:cNvPr name="TextBox 14" id="14"/>
          <p:cNvSpPr txBox="true"/>
          <p:nvPr/>
        </p:nvSpPr>
        <p:spPr>
          <a:xfrm rot="0">
            <a:off x="7127611" y="7606665"/>
            <a:ext cx="4479254" cy="817245"/>
          </a:xfrm>
          <a:prstGeom prst="rect">
            <a:avLst/>
          </a:prstGeom>
        </p:spPr>
        <p:txBody>
          <a:bodyPr anchor="t" rtlCol="false" tIns="0" lIns="0" bIns="0" rIns="0">
            <a:spAutoFit/>
          </a:bodyPr>
          <a:lstStyle/>
          <a:p>
            <a:pPr algn="ctr" marL="0" indent="0" lvl="0">
              <a:lnSpc>
                <a:spcPts val="3120"/>
              </a:lnSpc>
            </a:pPr>
            <a:r>
              <a:rPr lang="en-US" sz="2400">
                <a:solidFill>
                  <a:srgbClr val="D1D5DB"/>
                </a:solidFill>
                <a:latin typeface="Codec Pro"/>
                <a:ea typeface="Codec Pro"/>
                <a:cs typeface="Codec Pro"/>
                <a:sym typeface="Codec Pro"/>
              </a:rPr>
              <a:t>Add, edit, or remove games effectively.</a:t>
            </a:r>
          </a:p>
        </p:txBody>
      </p:sp>
      <p:sp>
        <p:nvSpPr>
          <p:cNvPr name="TextBox 15" id="15"/>
          <p:cNvSpPr txBox="true"/>
          <p:nvPr/>
        </p:nvSpPr>
        <p:spPr>
          <a:xfrm rot="0">
            <a:off x="12638887" y="7606665"/>
            <a:ext cx="4620413" cy="817245"/>
          </a:xfrm>
          <a:prstGeom prst="rect">
            <a:avLst/>
          </a:prstGeom>
        </p:spPr>
        <p:txBody>
          <a:bodyPr anchor="t" rtlCol="false" tIns="0" lIns="0" bIns="0" rIns="0">
            <a:spAutoFit/>
          </a:bodyPr>
          <a:lstStyle/>
          <a:p>
            <a:pPr algn="ctr" marL="0" indent="0" lvl="0">
              <a:lnSpc>
                <a:spcPts val="3120"/>
              </a:lnSpc>
            </a:pPr>
            <a:r>
              <a:rPr lang="en-US" sz="2400">
                <a:solidFill>
                  <a:srgbClr val="D1D5DB"/>
                </a:solidFill>
                <a:latin typeface="Codec Pro"/>
                <a:ea typeface="Codec Pro"/>
                <a:cs typeface="Codec Pro"/>
                <a:sym typeface="Codec Pro"/>
              </a:rPr>
              <a:t>Facilitate wallet recharges and track history.</a:t>
            </a:r>
          </a:p>
        </p:txBody>
      </p:sp>
      <p:sp>
        <p:nvSpPr>
          <p:cNvPr name="TextBox 16" id="16"/>
          <p:cNvSpPr txBox="true"/>
          <p:nvPr/>
        </p:nvSpPr>
        <p:spPr>
          <a:xfrm rot="0">
            <a:off x="12638887" y="6944995"/>
            <a:ext cx="4620413" cy="622300"/>
          </a:xfrm>
          <a:prstGeom prst="rect">
            <a:avLst/>
          </a:prstGeom>
        </p:spPr>
        <p:txBody>
          <a:bodyPr anchor="t" rtlCol="false" tIns="0" lIns="0" bIns="0" rIns="0">
            <a:spAutoFit/>
          </a:bodyPr>
          <a:lstStyle/>
          <a:p>
            <a:pPr algn="ctr" marL="0" indent="0" lvl="0">
              <a:lnSpc>
                <a:spcPts val="4549"/>
              </a:lnSpc>
            </a:pPr>
            <a:r>
              <a:rPr lang="en-US" b="true" sz="3499">
                <a:solidFill>
                  <a:srgbClr val="F9FAFB"/>
                </a:solidFill>
                <a:latin typeface="Codec Pro Ultra-Bold"/>
                <a:ea typeface="Codec Pro Ultra-Bold"/>
                <a:cs typeface="Codec Pro Ultra-Bold"/>
                <a:sym typeface="Codec Pro Ultra-Bold"/>
              </a:rPr>
              <a:t>Recharge Page</a:t>
            </a:r>
          </a:p>
        </p:txBody>
      </p:sp>
      <p:sp>
        <p:nvSpPr>
          <p:cNvPr name="TextBox 17" id="17"/>
          <p:cNvSpPr txBox="true"/>
          <p:nvPr/>
        </p:nvSpPr>
        <p:spPr>
          <a:xfrm rot="0">
            <a:off x="1800225" y="971550"/>
            <a:ext cx="14077950" cy="1638300"/>
          </a:xfrm>
          <a:prstGeom prst="rect">
            <a:avLst/>
          </a:prstGeom>
        </p:spPr>
        <p:txBody>
          <a:bodyPr anchor="t" rtlCol="false" tIns="0" lIns="0" bIns="0" rIns="0">
            <a:spAutoFit/>
          </a:bodyPr>
          <a:lstStyle/>
          <a:p>
            <a:pPr algn="ctr" marL="0" indent="0" lvl="0">
              <a:lnSpc>
                <a:spcPts val="6236"/>
              </a:lnSpc>
            </a:pPr>
            <a:r>
              <a:rPr lang="en-US" b="true" sz="5197" spc="-129">
                <a:solidFill>
                  <a:srgbClr val="F9FAFB"/>
                </a:solidFill>
                <a:latin typeface="Gatwick Ultra-Bold"/>
                <a:ea typeface="Gatwick Ultra-Bold"/>
                <a:cs typeface="Gatwick Ultra-Bold"/>
                <a:sym typeface="Gatwick Ultra-Bold"/>
              </a:rPr>
              <a:t>Overview of Gaming Club Admin Project</a:t>
            </a:r>
          </a:p>
        </p:txBody>
      </p:sp>
      <p:sp>
        <p:nvSpPr>
          <p:cNvPr name="TextBox 18" id="18"/>
          <p:cNvSpPr txBox="true"/>
          <p:nvPr/>
        </p:nvSpPr>
        <p:spPr>
          <a:xfrm rot="0">
            <a:off x="7057031" y="6944995"/>
            <a:ext cx="4620413" cy="622300"/>
          </a:xfrm>
          <a:prstGeom prst="rect">
            <a:avLst/>
          </a:prstGeom>
        </p:spPr>
        <p:txBody>
          <a:bodyPr anchor="t" rtlCol="false" tIns="0" lIns="0" bIns="0" rIns="0">
            <a:spAutoFit/>
          </a:bodyPr>
          <a:lstStyle/>
          <a:p>
            <a:pPr algn="ctr" marL="0" indent="0" lvl="0">
              <a:lnSpc>
                <a:spcPts val="4549"/>
              </a:lnSpc>
            </a:pPr>
            <a:r>
              <a:rPr lang="en-US" b="true" sz="3499">
                <a:solidFill>
                  <a:srgbClr val="F9FAFB"/>
                </a:solidFill>
                <a:latin typeface="Codec Pro Ultra-Bold"/>
                <a:ea typeface="Codec Pro Ultra-Bold"/>
                <a:cs typeface="Codec Pro Ultra-Bold"/>
                <a:sym typeface="Codec Pro Ultra-Bold"/>
              </a:rPr>
              <a:t>Games Page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387832" y="666750"/>
            <a:ext cx="17569487" cy="8953500"/>
            <a:chOff x="0" y="0"/>
            <a:chExt cx="5942091" cy="3028120"/>
          </a:xfrm>
        </p:grpSpPr>
        <p:sp>
          <p:nvSpPr>
            <p:cNvPr name="Freeform 3" id="3"/>
            <p:cNvSpPr/>
            <p:nvPr/>
          </p:nvSpPr>
          <p:spPr>
            <a:xfrm flipH="false" flipV="false" rot="0">
              <a:off x="12700" y="12700"/>
              <a:ext cx="5877321" cy="2959540"/>
            </a:xfrm>
            <a:custGeom>
              <a:avLst/>
              <a:gdLst/>
              <a:ahLst/>
              <a:cxnLst/>
              <a:rect r="r" b="b" t="t" l="l"/>
              <a:pathLst>
                <a:path h="2959540" w="5877321">
                  <a:moveTo>
                    <a:pt x="146050" y="2959540"/>
                  </a:moveTo>
                  <a:lnTo>
                    <a:pt x="5731271" y="2959540"/>
                  </a:lnTo>
                  <a:cubicBezTo>
                    <a:pt x="5811281" y="2959540"/>
                    <a:pt x="5877321" y="2893500"/>
                    <a:pt x="5877321" y="2813490"/>
                  </a:cubicBezTo>
                  <a:lnTo>
                    <a:pt x="5877321" y="146050"/>
                  </a:lnTo>
                  <a:cubicBezTo>
                    <a:pt x="5877321" y="66040"/>
                    <a:pt x="5811281" y="0"/>
                    <a:pt x="5731271"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942091" cy="3028120"/>
            </a:xfrm>
            <a:custGeom>
              <a:avLst/>
              <a:gdLst/>
              <a:ahLst/>
              <a:cxnLst/>
              <a:rect r="r" b="b" t="t" l="l"/>
              <a:pathLst>
                <a:path h="3028120" w="5942091">
                  <a:moveTo>
                    <a:pt x="5878591" y="74930"/>
                  </a:moveTo>
                  <a:cubicBezTo>
                    <a:pt x="5850651" y="30480"/>
                    <a:pt x="5801121" y="0"/>
                    <a:pt x="5743971" y="0"/>
                  </a:cubicBezTo>
                  <a:lnTo>
                    <a:pt x="158750" y="0"/>
                  </a:lnTo>
                  <a:cubicBezTo>
                    <a:pt x="71120" y="0"/>
                    <a:pt x="0" y="71120"/>
                    <a:pt x="0" y="158750"/>
                  </a:cubicBezTo>
                  <a:lnTo>
                    <a:pt x="0" y="2826190"/>
                  </a:lnTo>
                  <a:cubicBezTo>
                    <a:pt x="0" y="2878260"/>
                    <a:pt x="25400" y="2923980"/>
                    <a:pt x="63500" y="2953190"/>
                  </a:cubicBezTo>
                  <a:cubicBezTo>
                    <a:pt x="91440" y="2997640"/>
                    <a:pt x="140970" y="3028120"/>
                    <a:pt x="217883" y="3028120"/>
                  </a:cubicBezTo>
                  <a:lnTo>
                    <a:pt x="5783341" y="3028120"/>
                  </a:lnTo>
                  <a:cubicBezTo>
                    <a:pt x="5870971" y="3028120"/>
                    <a:pt x="5942091" y="2957000"/>
                    <a:pt x="5942091" y="2869370"/>
                  </a:cubicBezTo>
                  <a:lnTo>
                    <a:pt x="5942091" y="208926"/>
                  </a:lnTo>
                  <a:cubicBezTo>
                    <a:pt x="5942090" y="149860"/>
                    <a:pt x="5916690" y="104140"/>
                    <a:pt x="5878591" y="74930"/>
                  </a:cubicBezTo>
                  <a:close/>
                  <a:moveTo>
                    <a:pt x="12700" y="2826190"/>
                  </a:moveTo>
                  <a:lnTo>
                    <a:pt x="12700" y="158750"/>
                  </a:lnTo>
                  <a:cubicBezTo>
                    <a:pt x="12700" y="78740"/>
                    <a:pt x="78740" y="12700"/>
                    <a:pt x="158750" y="12700"/>
                  </a:cubicBezTo>
                  <a:lnTo>
                    <a:pt x="5743971" y="12700"/>
                  </a:lnTo>
                  <a:cubicBezTo>
                    <a:pt x="5823981" y="12700"/>
                    <a:pt x="5890021" y="78740"/>
                    <a:pt x="5890021" y="158750"/>
                  </a:cubicBezTo>
                  <a:lnTo>
                    <a:pt x="5890021" y="2826190"/>
                  </a:lnTo>
                  <a:cubicBezTo>
                    <a:pt x="5890021" y="2906200"/>
                    <a:pt x="5823981" y="2972240"/>
                    <a:pt x="5743971" y="2972240"/>
                  </a:cubicBezTo>
                  <a:lnTo>
                    <a:pt x="158750" y="2972240"/>
                  </a:lnTo>
                  <a:cubicBezTo>
                    <a:pt x="78740" y="2972240"/>
                    <a:pt x="12700" y="2907470"/>
                    <a:pt x="12700" y="2826190"/>
                  </a:cubicBezTo>
                  <a:close/>
                </a:path>
              </a:pathLst>
            </a:custGeom>
            <a:solidFill>
              <a:srgbClr val="9CA3AF"/>
            </a:solidFill>
          </p:spPr>
        </p:sp>
      </p:grpSp>
      <p:grpSp>
        <p:nvGrpSpPr>
          <p:cNvPr name="Group 5" id="5"/>
          <p:cNvGrpSpPr/>
          <p:nvPr/>
        </p:nvGrpSpPr>
        <p:grpSpPr>
          <a:xfrm rot="0">
            <a:off x="12295193" y="3303038"/>
            <a:ext cx="4623063" cy="3231344"/>
            <a:chOff x="0" y="0"/>
            <a:chExt cx="650763" cy="454859"/>
          </a:xfrm>
        </p:grpSpPr>
        <p:sp>
          <p:nvSpPr>
            <p:cNvPr name="Freeform 6" id="6"/>
            <p:cNvSpPr/>
            <p:nvPr/>
          </p:nvSpPr>
          <p:spPr>
            <a:xfrm flipH="false" flipV="false" rot="0">
              <a:off x="0" y="0"/>
              <a:ext cx="650763" cy="454859"/>
            </a:xfrm>
            <a:custGeom>
              <a:avLst/>
              <a:gdLst/>
              <a:ahLst/>
              <a:cxnLst/>
              <a:rect r="r" b="b" t="t" l="l"/>
              <a:pathLst>
                <a:path h="454859" w="650763">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2"/>
              <a:stretch>
                <a:fillRect l="-16765" t="0" r="-26502" b="-7422"/>
              </a:stretch>
            </a:blipFill>
            <a:ln w="38100" cap="rnd">
              <a:solidFill>
                <a:srgbClr val="000000"/>
              </a:solidFill>
              <a:prstDash val="solid"/>
              <a:round/>
            </a:ln>
          </p:spPr>
        </p:sp>
      </p:grpSp>
      <p:sp>
        <p:nvSpPr>
          <p:cNvPr name="Freeform 7" id="7"/>
          <p:cNvSpPr/>
          <p:nvPr/>
        </p:nvSpPr>
        <p:spPr>
          <a:xfrm flipH="false" flipV="false" rot="0">
            <a:off x="1028700" y="3519774"/>
            <a:ext cx="10252801" cy="2797871"/>
          </a:xfrm>
          <a:custGeom>
            <a:avLst/>
            <a:gdLst/>
            <a:ahLst/>
            <a:cxnLst/>
            <a:rect r="r" b="b" t="t" l="l"/>
            <a:pathLst>
              <a:path h="2797871" w="10252801">
                <a:moveTo>
                  <a:pt x="0" y="0"/>
                </a:moveTo>
                <a:lnTo>
                  <a:pt x="10252801" y="0"/>
                </a:lnTo>
                <a:lnTo>
                  <a:pt x="10252801" y="2797872"/>
                </a:lnTo>
                <a:lnTo>
                  <a:pt x="0" y="2797872"/>
                </a:lnTo>
                <a:lnTo>
                  <a:pt x="0" y="0"/>
                </a:lnTo>
                <a:close/>
              </a:path>
            </a:pathLst>
          </a:custGeom>
          <a:blipFill>
            <a:blip r:embed="rId3"/>
            <a:stretch>
              <a:fillRect l="-7525" t="-35968" r="-12541" b="-44960"/>
            </a:stretch>
          </a:blipFill>
        </p:spPr>
      </p:sp>
      <p:grpSp>
        <p:nvGrpSpPr>
          <p:cNvPr name="Group 8" id="8"/>
          <p:cNvGrpSpPr/>
          <p:nvPr/>
        </p:nvGrpSpPr>
        <p:grpSpPr>
          <a:xfrm rot="0">
            <a:off x="3350309" y="7098982"/>
            <a:ext cx="4619625" cy="1800225"/>
            <a:chOff x="0" y="0"/>
            <a:chExt cx="6159500" cy="2400301"/>
          </a:xfrm>
        </p:grpSpPr>
        <p:sp>
          <p:nvSpPr>
            <p:cNvPr name="TextBox 9" id="9"/>
            <p:cNvSpPr txBox="true"/>
            <p:nvPr/>
          </p:nvSpPr>
          <p:spPr>
            <a:xfrm rot="0">
              <a:off x="0" y="737659"/>
              <a:ext cx="6159500" cy="1662642"/>
            </a:xfrm>
            <a:prstGeom prst="rect">
              <a:avLst/>
            </a:prstGeom>
          </p:spPr>
          <p:txBody>
            <a:bodyPr anchor="t" rtlCol="false" tIns="0" lIns="0" bIns="0" rIns="0">
              <a:spAutoFit/>
            </a:bodyPr>
            <a:lstStyle/>
            <a:p>
              <a:pPr algn="ctr" marL="0" indent="0" lvl="0">
                <a:lnSpc>
                  <a:spcPts val="3249"/>
                </a:lnSpc>
              </a:pPr>
              <a:r>
                <a:rPr lang="en-US" sz="2499">
                  <a:solidFill>
                    <a:srgbClr val="D1D5DB"/>
                  </a:solidFill>
                  <a:latin typeface="Codec Pro"/>
                  <a:ea typeface="Codec Pro"/>
                  <a:cs typeface="Codec Pro"/>
                  <a:sym typeface="Codec Pro"/>
                </a:rPr>
                <a:t>Explore and access comprehensive information about each club member.</a:t>
              </a:r>
            </a:p>
          </p:txBody>
        </p:sp>
        <p:sp>
          <p:nvSpPr>
            <p:cNvPr name="TextBox 10" id="10"/>
            <p:cNvSpPr txBox="true"/>
            <p:nvPr/>
          </p:nvSpPr>
          <p:spPr>
            <a:xfrm rot="0">
              <a:off x="0" y="-95250"/>
              <a:ext cx="6159500" cy="797984"/>
            </a:xfrm>
            <a:prstGeom prst="rect">
              <a:avLst/>
            </a:prstGeom>
          </p:spPr>
          <p:txBody>
            <a:bodyPr anchor="t" rtlCol="false" tIns="0" lIns="0" bIns="0" rIns="0">
              <a:spAutoFit/>
            </a:bodyPr>
            <a:lstStyle/>
            <a:p>
              <a:pPr algn="ctr" marL="0" indent="0" lvl="0">
                <a:lnSpc>
                  <a:spcPts val="4549"/>
                </a:lnSpc>
              </a:pPr>
              <a:r>
                <a:rPr lang="en-US" b="true" sz="3499">
                  <a:solidFill>
                    <a:srgbClr val="F9FAFB"/>
                  </a:solidFill>
                  <a:latin typeface="Codec Pro Ultra-Bold"/>
                  <a:ea typeface="Codec Pro Ultra-Bold"/>
                  <a:cs typeface="Codec Pro Ultra-Bold"/>
                  <a:sym typeface="Codec Pro Ultra-Bold"/>
                </a:rPr>
                <a:t>Transactions Page</a:t>
              </a:r>
            </a:p>
          </p:txBody>
        </p:sp>
      </p:grpSp>
      <p:sp>
        <p:nvSpPr>
          <p:cNvPr name="TextBox 11" id="11"/>
          <p:cNvSpPr txBox="true"/>
          <p:nvPr/>
        </p:nvSpPr>
        <p:spPr>
          <a:xfrm rot="0">
            <a:off x="12079807" y="8045133"/>
            <a:ext cx="4620413" cy="854075"/>
          </a:xfrm>
          <a:prstGeom prst="rect">
            <a:avLst/>
          </a:prstGeom>
        </p:spPr>
        <p:txBody>
          <a:bodyPr anchor="t" rtlCol="false" tIns="0" lIns="0" bIns="0" rIns="0">
            <a:spAutoFit/>
          </a:bodyPr>
          <a:lstStyle/>
          <a:p>
            <a:pPr algn="ctr" marL="0" indent="0" lvl="0">
              <a:lnSpc>
                <a:spcPts val="3249"/>
              </a:lnSpc>
            </a:pPr>
            <a:r>
              <a:rPr lang="en-US" sz="2499">
                <a:solidFill>
                  <a:srgbClr val="D1D5DB"/>
                </a:solidFill>
                <a:latin typeface="Codec Pro"/>
                <a:ea typeface="Codec Pro"/>
                <a:cs typeface="Codec Pro"/>
                <a:sym typeface="Codec Pro"/>
              </a:rPr>
              <a:t>Facilitate wallet recharges, track history effortlessly.</a:t>
            </a:r>
          </a:p>
        </p:txBody>
      </p:sp>
      <p:sp>
        <p:nvSpPr>
          <p:cNvPr name="TextBox 12" id="12"/>
          <p:cNvSpPr txBox="true"/>
          <p:nvPr/>
        </p:nvSpPr>
        <p:spPr>
          <a:xfrm rot="0">
            <a:off x="12079807" y="6671627"/>
            <a:ext cx="4620413" cy="1221105"/>
          </a:xfrm>
          <a:prstGeom prst="rect">
            <a:avLst/>
          </a:prstGeom>
        </p:spPr>
        <p:txBody>
          <a:bodyPr anchor="t" rtlCol="false" tIns="0" lIns="0" bIns="0" rIns="0">
            <a:spAutoFit/>
          </a:bodyPr>
          <a:lstStyle/>
          <a:p>
            <a:pPr algn="ctr" marL="0" indent="0" lvl="0">
              <a:lnSpc>
                <a:spcPts val="4679"/>
              </a:lnSpc>
            </a:pPr>
            <a:r>
              <a:rPr lang="en-US" b="true" sz="3599">
                <a:solidFill>
                  <a:srgbClr val="F9FAFB"/>
                </a:solidFill>
                <a:latin typeface="Codec Pro Ultra-Bold"/>
                <a:ea typeface="Codec Pro Ultra-Bold"/>
                <a:cs typeface="Codec Pro Ultra-Bold"/>
                <a:sym typeface="Codec Pro Ultra-Bold"/>
              </a:rPr>
              <a:t>Daily Collections Page</a:t>
            </a:r>
          </a:p>
        </p:txBody>
      </p:sp>
      <p:sp>
        <p:nvSpPr>
          <p:cNvPr name="TextBox 13" id="13"/>
          <p:cNvSpPr txBox="true"/>
          <p:nvPr/>
        </p:nvSpPr>
        <p:spPr>
          <a:xfrm rot="0">
            <a:off x="1800225" y="971550"/>
            <a:ext cx="14077950" cy="1638300"/>
          </a:xfrm>
          <a:prstGeom prst="rect">
            <a:avLst/>
          </a:prstGeom>
        </p:spPr>
        <p:txBody>
          <a:bodyPr anchor="t" rtlCol="false" tIns="0" lIns="0" bIns="0" rIns="0">
            <a:spAutoFit/>
          </a:bodyPr>
          <a:lstStyle/>
          <a:p>
            <a:pPr algn="ctr" marL="0" indent="0" lvl="0">
              <a:lnSpc>
                <a:spcPts val="6236"/>
              </a:lnSpc>
            </a:pPr>
            <a:r>
              <a:rPr lang="en-US" b="true" sz="5197" spc="-129">
                <a:solidFill>
                  <a:srgbClr val="F9FAFB"/>
                </a:solidFill>
                <a:latin typeface="Gatwick Ultra-Bold"/>
                <a:ea typeface="Gatwick Ultra-Bold"/>
                <a:cs typeface="Gatwick Ultra-Bold"/>
                <a:sym typeface="Gatwick Ultra-Bold"/>
              </a:rPr>
              <a:t>Overview of Gaming Club Admin Project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9FAFB"/>
            </a:solidFill>
          </p:spPr>
        </p:sp>
      </p:grpSp>
      <p:grpSp>
        <p:nvGrpSpPr>
          <p:cNvPr name="Group 5" id="5"/>
          <p:cNvGrpSpPr/>
          <p:nvPr/>
        </p:nvGrpSpPr>
        <p:grpSpPr>
          <a:xfrm rot="0">
            <a:off x="7385601" y="1729824"/>
            <a:ext cx="9578625" cy="7162800"/>
            <a:chOff x="0" y="0"/>
            <a:chExt cx="2522765" cy="1886499"/>
          </a:xfrm>
        </p:grpSpPr>
        <p:sp>
          <p:nvSpPr>
            <p:cNvPr name="Freeform 6" id="6"/>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8" id="8"/>
          <p:cNvSpPr txBox="true"/>
          <p:nvPr/>
        </p:nvSpPr>
        <p:spPr>
          <a:xfrm rot="0">
            <a:off x="8029776" y="2509604"/>
            <a:ext cx="8290275" cy="5527040"/>
          </a:xfrm>
          <a:prstGeom prst="rect">
            <a:avLst/>
          </a:prstGeom>
        </p:spPr>
        <p:txBody>
          <a:bodyPr anchor="t" rtlCol="false" tIns="0" lIns="0" bIns="0" rIns="0">
            <a:spAutoFit/>
          </a:bodyPr>
          <a:lstStyle/>
          <a:p>
            <a:pPr algn="ctr" marL="0" indent="0" lvl="0">
              <a:lnSpc>
                <a:spcPts val="3639"/>
              </a:lnSpc>
            </a:pPr>
            <a:r>
              <a:rPr lang="en-US" sz="2799">
                <a:solidFill>
                  <a:srgbClr val="F9FAFB"/>
                </a:solidFill>
                <a:latin typeface="Codec Pro"/>
                <a:ea typeface="Codec Pro"/>
                <a:cs typeface="Codec Pro"/>
                <a:sym typeface="Codec Pro"/>
              </a:rPr>
              <a:t>In summary, the journey through </a:t>
            </a:r>
            <a:r>
              <a:rPr lang="en-US" b="true" sz="2799">
                <a:solidFill>
                  <a:srgbClr val="F9FAFB"/>
                </a:solidFill>
                <a:latin typeface="Codec Pro Bold"/>
                <a:ea typeface="Codec Pro Bold"/>
                <a:cs typeface="Codec Pro Bold"/>
                <a:sym typeface="Codec Pro Bold"/>
              </a:rPr>
              <a:t>full stack development</a:t>
            </a:r>
            <a:r>
              <a:rPr lang="en-US" sz="2799">
                <a:solidFill>
                  <a:srgbClr val="F9FAFB"/>
                </a:solidFill>
                <a:latin typeface="Codec Pro"/>
                <a:ea typeface="Codec Pro"/>
                <a:cs typeface="Codec Pro"/>
                <a:sym typeface="Codec Pro"/>
              </a:rPr>
              <a:t> has illuminated the essential tools that create a cohesive workflow. Each tool, from </a:t>
            </a:r>
            <a:r>
              <a:rPr lang="en-US" b="true" sz="2799">
                <a:solidFill>
                  <a:srgbClr val="F9FAFB"/>
                </a:solidFill>
                <a:latin typeface="Codec Pro Bold"/>
                <a:ea typeface="Codec Pro Bold"/>
                <a:cs typeface="Codec Pro Bold"/>
                <a:sym typeface="Codec Pro Bold"/>
              </a:rPr>
              <a:t>Postman</a:t>
            </a:r>
            <a:r>
              <a:rPr lang="en-US" sz="2799">
                <a:solidFill>
                  <a:srgbClr val="F9FAFB"/>
                </a:solidFill>
                <a:latin typeface="Codec Pro"/>
                <a:ea typeface="Codec Pro"/>
                <a:cs typeface="Codec Pro"/>
                <a:sym typeface="Codec Pro"/>
              </a:rPr>
              <a:t> for API testing to </a:t>
            </a:r>
            <a:r>
              <a:rPr lang="en-US" b="true" sz="2799">
                <a:solidFill>
                  <a:srgbClr val="F9FAFB"/>
                </a:solidFill>
                <a:latin typeface="Codec Pro Bold"/>
                <a:ea typeface="Codec Pro Bold"/>
                <a:cs typeface="Codec Pro Bold"/>
                <a:sym typeface="Codec Pro Bold"/>
              </a:rPr>
              <a:t>MySQL</a:t>
            </a:r>
            <a:r>
              <a:rPr lang="en-US" sz="2799">
                <a:solidFill>
                  <a:srgbClr val="F9FAFB"/>
                </a:solidFill>
                <a:latin typeface="Codec Pro"/>
                <a:ea typeface="Codec Pro"/>
                <a:cs typeface="Codec Pro"/>
                <a:sym typeface="Codec Pro"/>
              </a:rPr>
              <a:t> for data management, plays a critical role in bridging the frontend and backend. Understanding these tools is vital for successful development, as they enable developers to create, test, and deploy applications efficiently. As we integrate these technologies, we enhance our capability to build robust applications that meet user needs and industry standards.</a:t>
            </a:r>
          </a:p>
        </p:txBody>
      </p:sp>
      <p:sp>
        <p:nvSpPr>
          <p:cNvPr name="Freeform 9" id="9"/>
          <p:cNvSpPr/>
          <p:nvPr/>
        </p:nvSpPr>
        <p:spPr>
          <a:xfrm flipH="false" flipV="false" rot="0">
            <a:off x="1028700" y="1562100"/>
            <a:ext cx="6158960" cy="6193914"/>
          </a:xfrm>
          <a:custGeom>
            <a:avLst/>
            <a:gdLst/>
            <a:ahLst/>
            <a:cxnLst/>
            <a:rect r="r" b="b" t="t" l="l"/>
            <a:pathLst>
              <a:path h="6193914" w="6158960">
                <a:moveTo>
                  <a:pt x="0" y="0"/>
                </a:moveTo>
                <a:lnTo>
                  <a:pt x="6158960" y="0"/>
                </a:lnTo>
                <a:lnTo>
                  <a:pt x="6158960" y="6193914"/>
                </a:lnTo>
                <a:lnTo>
                  <a:pt x="0" y="6193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103167" y="3016941"/>
            <a:ext cx="4010025" cy="3581400"/>
          </a:xfrm>
          <a:prstGeom prst="rect">
            <a:avLst/>
          </a:prstGeom>
        </p:spPr>
        <p:txBody>
          <a:bodyPr anchor="t" rtlCol="false" tIns="0" lIns="0" bIns="0" rIns="0">
            <a:spAutoFit/>
          </a:bodyPr>
          <a:lstStyle/>
          <a:p>
            <a:pPr algn="ctr" marL="0" indent="0" lvl="0">
              <a:lnSpc>
                <a:spcPts val="5580"/>
              </a:lnSpc>
            </a:pPr>
            <a:r>
              <a:rPr lang="en-US" b="true" sz="4650" spc="-116">
                <a:solidFill>
                  <a:srgbClr val="000000"/>
                </a:solidFill>
                <a:latin typeface="Gatwick Bold"/>
                <a:ea typeface="Gatwick Bold"/>
                <a:cs typeface="Gatwick Bold"/>
                <a:sym typeface="Gatwick Bold"/>
              </a:rPr>
              <a:t>Key Takeaways of Full Stack Tools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91522"/>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1F2937"/>
            </a:solidFill>
          </p:spPr>
        </p:sp>
      </p:grpSp>
      <p:sp>
        <p:nvSpPr>
          <p:cNvPr name="Freeform 5" id="5"/>
          <p:cNvSpPr/>
          <p:nvPr/>
        </p:nvSpPr>
        <p:spPr>
          <a:xfrm flipH="false" flipV="false" rot="0">
            <a:off x="1830034" y="1562100"/>
            <a:ext cx="5184507" cy="6439793"/>
          </a:xfrm>
          <a:custGeom>
            <a:avLst/>
            <a:gdLst/>
            <a:ahLst/>
            <a:cxnLst/>
            <a:rect r="r" b="b" t="t" l="l"/>
            <a:pathLst>
              <a:path h="6439793" w="5184507">
                <a:moveTo>
                  <a:pt x="0" y="0"/>
                </a:moveTo>
                <a:lnTo>
                  <a:pt x="5184507" y="0"/>
                </a:lnTo>
                <a:lnTo>
                  <a:pt x="5184507" y="6439793"/>
                </a:lnTo>
                <a:lnTo>
                  <a:pt x="0" y="6439793"/>
                </a:lnTo>
                <a:lnTo>
                  <a:pt x="0" y="0"/>
                </a:lnTo>
                <a:close/>
              </a:path>
            </a:pathLst>
          </a:custGeom>
          <a:blipFill>
            <a:blip r:embed="rId2">
              <a:extLst>
                <a:ext uri="{96DAC541-7B7A-43D3-8B79-37D633B846F1}">
                  <asvg:svgBlip xmlns:asvg="http://schemas.microsoft.com/office/drawing/2016/SVG/main" r:embed="rId3"/>
                </a:ext>
              </a:extLst>
            </a:blip>
            <a:stretch>
              <a:fillRect l="-4313" t="0" r="-3487" b="-7024"/>
            </a:stretch>
          </a:blipFill>
        </p:spPr>
      </p:sp>
      <p:grpSp>
        <p:nvGrpSpPr>
          <p:cNvPr name="Group 6" id="6"/>
          <p:cNvGrpSpPr/>
          <p:nvPr/>
        </p:nvGrpSpPr>
        <p:grpSpPr>
          <a:xfrm rot="0">
            <a:off x="7858125" y="1562100"/>
            <a:ext cx="8324850" cy="3886200"/>
            <a:chOff x="0" y="0"/>
            <a:chExt cx="11099800" cy="5181600"/>
          </a:xfrm>
        </p:grpSpPr>
        <p:sp>
          <p:nvSpPr>
            <p:cNvPr name="TextBox 7" id="7"/>
            <p:cNvSpPr txBox="true"/>
            <p:nvPr/>
          </p:nvSpPr>
          <p:spPr>
            <a:xfrm rot="0">
              <a:off x="0" y="-76200"/>
              <a:ext cx="11099800" cy="4610100"/>
            </a:xfrm>
            <a:prstGeom prst="rect">
              <a:avLst/>
            </a:prstGeom>
          </p:spPr>
          <p:txBody>
            <a:bodyPr anchor="t" rtlCol="false" tIns="0" lIns="0" bIns="0" rIns="0">
              <a:spAutoFit/>
            </a:bodyPr>
            <a:lstStyle/>
            <a:p>
              <a:pPr algn="ctr" marL="0" indent="0" lvl="0">
                <a:lnSpc>
                  <a:spcPts val="8999"/>
                </a:lnSpc>
              </a:pPr>
              <a:r>
                <a:rPr lang="en-US" b="true" sz="7499" spc="-187">
                  <a:solidFill>
                    <a:srgbClr val="F9FAFB"/>
                  </a:solidFill>
                  <a:latin typeface="Gatwick Ultra-Bold"/>
                  <a:ea typeface="Gatwick Ultra-Bold"/>
                  <a:cs typeface="Gatwick Ultra-Bold"/>
                  <a:sym typeface="Gatwick Ultra-Bold"/>
                </a:rPr>
                <a:t>Questions and Discussion</a:t>
              </a:r>
            </a:p>
          </p:txBody>
        </p:sp>
        <p:sp>
          <p:nvSpPr>
            <p:cNvPr name="TextBox 8" id="8"/>
            <p:cNvSpPr txBox="true"/>
            <p:nvPr/>
          </p:nvSpPr>
          <p:spPr>
            <a:xfrm rot="0">
              <a:off x="0" y="4622165"/>
              <a:ext cx="11099800" cy="559435"/>
            </a:xfrm>
            <a:prstGeom prst="rect">
              <a:avLst/>
            </a:prstGeom>
          </p:spPr>
          <p:txBody>
            <a:bodyPr anchor="t" rtlCol="false" tIns="0" lIns="0" bIns="0" rIns="0">
              <a:spAutoFit/>
            </a:bodyPr>
            <a:lstStyle/>
            <a:p>
              <a:pPr algn="ctr" marL="0" indent="0" lvl="0">
                <a:lnSpc>
                  <a:spcPts val="3120"/>
                </a:lnSpc>
              </a:pPr>
              <a:r>
                <a:rPr lang="en-US" b="true" sz="2400">
                  <a:solidFill>
                    <a:srgbClr val="D1D5DB"/>
                  </a:solidFill>
                  <a:latin typeface="Codec Pro Ultra-Bold"/>
                  <a:ea typeface="Codec Pro Ultra-Bold"/>
                  <a:cs typeface="Codec Pro Ultra-Bold"/>
                  <a:sym typeface="Codec Pro Ultra-Bold"/>
                </a:rPr>
                <a:t>We appreciate your engagement and inquiries</a:t>
              </a:r>
            </a:p>
          </p:txBody>
        </p:sp>
      </p:grpSp>
      <p:grpSp>
        <p:nvGrpSpPr>
          <p:cNvPr name="Group 9" id="9"/>
          <p:cNvGrpSpPr/>
          <p:nvPr/>
        </p:nvGrpSpPr>
        <p:grpSpPr>
          <a:xfrm rot="0">
            <a:off x="8305388" y="7274210"/>
            <a:ext cx="8324850" cy="727683"/>
            <a:chOff x="0" y="0"/>
            <a:chExt cx="11099800" cy="970244"/>
          </a:xfrm>
        </p:grpSpPr>
        <p:sp>
          <p:nvSpPr>
            <p:cNvPr name="TextBox 10" id="10"/>
            <p:cNvSpPr txBox="true"/>
            <p:nvPr/>
          </p:nvSpPr>
          <p:spPr>
            <a:xfrm rot="0">
              <a:off x="0" y="-38100"/>
              <a:ext cx="11099800" cy="520700"/>
            </a:xfrm>
            <a:prstGeom prst="rect">
              <a:avLst/>
            </a:prstGeom>
          </p:spPr>
          <p:txBody>
            <a:bodyPr anchor="t" rtlCol="false" tIns="0" lIns="0" bIns="0" rIns="0">
              <a:spAutoFit/>
            </a:bodyPr>
            <a:lstStyle/>
            <a:p>
              <a:pPr algn="ctr" marL="0" indent="0" lvl="0">
                <a:lnSpc>
                  <a:spcPts val="2880"/>
                </a:lnSpc>
              </a:pPr>
              <a:r>
                <a:rPr lang="en-US" b="true" sz="2400">
                  <a:solidFill>
                    <a:srgbClr val="9CA3AF"/>
                  </a:solidFill>
                  <a:latin typeface="Codec Pro Ultra-Bold"/>
                  <a:ea typeface="Codec Pro Ultra-Bold"/>
                  <a:cs typeface="Codec Pro Ultra-Bold"/>
                  <a:sym typeface="Codec Pro Ultra-Bold"/>
                </a:rPr>
                <a:t>EMAIL ADDRESS</a:t>
              </a:r>
            </a:p>
          </p:txBody>
        </p:sp>
        <p:sp>
          <p:nvSpPr>
            <p:cNvPr name="TextBox 11" id="11"/>
            <p:cNvSpPr txBox="true"/>
            <p:nvPr/>
          </p:nvSpPr>
          <p:spPr>
            <a:xfrm rot="0">
              <a:off x="0" y="449544"/>
              <a:ext cx="11099800" cy="520700"/>
            </a:xfrm>
            <a:prstGeom prst="rect">
              <a:avLst/>
            </a:prstGeom>
          </p:spPr>
          <p:txBody>
            <a:bodyPr anchor="t" rtlCol="false" tIns="0" lIns="0" bIns="0" rIns="0">
              <a:spAutoFit/>
            </a:bodyPr>
            <a:lstStyle/>
            <a:p>
              <a:pPr algn="ctr" marL="0" indent="0" lvl="0">
                <a:lnSpc>
                  <a:spcPts val="2880"/>
                </a:lnSpc>
              </a:pPr>
              <a:r>
                <a:rPr lang="en-US" sz="2400">
                  <a:solidFill>
                    <a:srgbClr val="D1D5DB"/>
                  </a:solidFill>
                  <a:latin typeface="Codec Pro"/>
                  <a:ea typeface="Codec Pro"/>
                  <a:cs typeface="Codec Pro"/>
                  <a:sym typeface="Codec Pro"/>
                </a:rPr>
                <a:t>usharamineni8@gmail.com</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Full Stack Development Tools</dc:description>
  <dc:identifier>DAG1FkVO3Wg</dc:identifier>
  <dcterms:modified xsi:type="dcterms:W3CDTF">2011-08-01T06:04:30Z</dcterms:modified>
  <cp:revision>1</cp:revision>
  <dc:title>Presentation - Full Stack Development Tools</dc:title>
</cp:coreProperties>
</file>